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5143500" cy="9144000"/>
  <p:embeddedFontLst>
    <p:embeddedFont>
      <p:font typeface="Roboto Mono"/>
      <p:regular r:id="rId26"/>
      <p:bold r:id="rId27"/>
      <p:italic r:id="rId28"/>
      <p:boldItalic r:id="rId29"/>
    </p:embeddedFont>
    <p:embeddedFont>
      <p:font typeface="Space Grotesk"/>
      <p:regular r:id="rId30"/>
      <p:bold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2" roundtripDataSignature="AMtx7mgDMiIFttRaax3RPxPvWF+V51c86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font" Target="fonts/RobotoMono-regular.fntdata"/><Relationship Id="rId25" Type="http://schemas.openxmlformats.org/officeDocument/2006/relationships/slide" Target="slides/slide20.xml"/><Relationship Id="rId28" Type="http://schemas.openxmlformats.org/officeDocument/2006/relationships/font" Target="fonts/RobotoMono-italic.fntdata"/><Relationship Id="rId27" Type="http://schemas.openxmlformats.org/officeDocument/2006/relationships/font" Target="fonts/RobotoMon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SpaceGrotesk-bold.fntdata"/><Relationship Id="rId30" Type="http://schemas.openxmlformats.org/officeDocument/2006/relationships/font" Target="fonts/SpaceGrotesk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edb511d762_1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" name="Google Shape;15;g3edb511d762_1_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" name="Google Shape;16;g3edb511d762_1_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edb511d762_1_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g3edb511d762_1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" name="Google Shape;28;g3edb511d762_1_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edb511d762_1_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g3edb511d762_1_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" name="Google Shape;58;g3edb511d762_1_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db511d762_1_101:notes"/>
          <p:cNvSpPr/>
          <p:nvPr>
            <p:ph idx="2" type="sldImg"/>
          </p:nvPr>
        </p:nvSpPr>
        <p:spPr>
          <a:xfrm>
            <a:off x="51435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g3edb511d762_1_101:notes"/>
          <p:cNvSpPr txBox="1"/>
          <p:nvPr>
            <p:ph idx="1" type="body"/>
          </p:nvPr>
        </p:nvSpPr>
        <p:spPr>
          <a:xfrm>
            <a:off x="514350" y="3300413"/>
            <a:ext cx="41148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/>
          </a:p>
        </p:txBody>
      </p:sp>
      <p:sp>
        <p:nvSpPr>
          <p:cNvPr id="96" name="Google Shape;96;g3edb511d762_1_101:notes"/>
          <p:cNvSpPr txBox="1"/>
          <p:nvPr>
            <p:ph idx="12" type="sldNum"/>
          </p:nvPr>
        </p:nvSpPr>
        <p:spPr>
          <a:xfrm>
            <a:off x="2913460" y="6513910"/>
            <a:ext cx="222885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db511d762_1_1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edb511d762_1_1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" name="Google Shape;120;g3edb511d762_1_1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db511d762_1_1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3edb511d762_1_1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g3edb511d762_1_1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db511d762_1_1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g3edb511d762_1_1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g3edb511d762_1_1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edb511d762_1_1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3edb511d762_1_1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g3edb511d762_1_15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edb511d762_1_1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g3edb511d762_1_1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g3edb511d762_1_15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edb511d762_2_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g3edb511d762_2_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g3edb511d762_2_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edb511d762_1_1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g3edb511d762_1_1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" name="Google Shape;178;g3edb511d762_1_1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ef0887e4c6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ef0887e4c6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5" name="Google Shape;185;g3ef0887e4c6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eda14830af_14_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g3eda14830af_14_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g3eda14830af_14_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edc64a3003_1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g3edc64a3003_1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5" name="Google Shape;205;g3edc64a3003_1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edb511d762_1_166:notes"/>
          <p:cNvSpPr/>
          <p:nvPr>
            <p:ph idx="2" type="sldImg"/>
          </p:nvPr>
        </p:nvSpPr>
        <p:spPr>
          <a:xfrm>
            <a:off x="51435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g3edb511d762_1_166:notes"/>
          <p:cNvSpPr txBox="1"/>
          <p:nvPr>
            <p:ph idx="1" type="body"/>
          </p:nvPr>
        </p:nvSpPr>
        <p:spPr>
          <a:xfrm>
            <a:off x="514350" y="3300413"/>
            <a:ext cx="41148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100"/>
              <a:t>Visão geral estrutural: 11 seções da política de privacidade agrupadas em 4 blocos temáticos — coleta/finalidade, direitos do titular, retenção/segurança, governança/responsabilidade.</a:t>
            </a:r>
            <a:endParaRPr sz="1100"/>
          </a:p>
        </p:txBody>
      </p:sp>
      <p:sp>
        <p:nvSpPr>
          <p:cNvPr id="218" name="Google Shape;218;g3edb511d762_1_166:notes"/>
          <p:cNvSpPr txBox="1"/>
          <p:nvPr>
            <p:ph idx="12" type="sldNum"/>
          </p:nvPr>
        </p:nvSpPr>
        <p:spPr>
          <a:xfrm>
            <a:off x="2913460" y="6513910"/>
            <a:ext cx="222885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edb511d762_1_216:notes"/>
          <p:cNvSpPr/>
          <p:nvPr>
            <p:ph idx="2" type="sldImg"/>
          </p:nvPr>
        </p:nvSpPr>
        <p:spPr>
          <a:xfrm>
            <a:off x="51435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g3edb511d762_1_216:notes"/>
          <p:cNvSpPr txBox="1"/>
          <p:nvPr>
            <p:ph idx="1" type="body"/>
          </p:nvPr>
        </p:nvSpPr>
        <p:spPr>
          <a:xfrm>
            <a:off x="514350" y="3300413"/>
            <a:ext cx="41148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100"/>
              <a:t>Slide de dados e base legal: lado esquerdo lista os 4 tipos de dados pessoais coletados conforme a seção 1.1; lado direito traz a fundamentação legal (CF, LGPD, CDC) e destaca o princípio de retenção zero.</a:t>
            </a:r>
            <a:endParaRPr sz="1100"/>
          </a:p>
        </p:txBody>
      </p:sp>
      <p:sp>
        <p:nvSpPr>
          <p:cNvPr id="268" name="Google Shape;268;g3edb511d762_1_216:notes"/>
          <p:cNvSpPr txBox="1"/>
          <p:nvPr>
            <p:ph idx="12" type="sldNum"/>
          </p:nvPr>
        </p:nvSpPr>
        <p:spPr>
          <a:xfrm>
            <a:off x="2913460" y="6513910"/>
            <a:ext cx="222885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edb511d762_1_2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g3edb511d762_1_2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2" name="Google Shape;312;g3edb511d762_1_29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edb511d762_1_3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g3edb511d762_1_30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1" name="Google Shape;321;g3edb511d762_1_30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edb511d762_1_3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g3edb511d762_1_3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7" name="Google Shape;337;g3edb511d762_1_3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edb511d762_2_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g3edb511d762_2_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6" name="Google Shape;346;g3edb511d762_2_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2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10" Type="http://schemas.openxmlformats.org/officeDocument/2006/relationships/image" Target="../media/image3.png"/><Relationship Id="rId9" Type="http://schemas.openxmlformats.org/officeDocument/2006/relationships/image" Target="../media/image5.png"/><Relationship Id="rId5" Type="http://schemas.openxmlformats.org/officeDocument/2006/relationships/image" Target="../media/image41.png"/><Relationship Id="rId6" Type="http://schemas.openxmlformats.org/officeDocument/2006/relationships/image" Target="../media/image1.png"/><Relationship Id="rId7" Type="http://schemas.openxmlformats.org/officeDocument/2006/relationships/image" Target="../media/image38.png"/><Relationship Id="rId8" Type="http://schemas.openxmlformats.org/officeDocument/2006/relationships/image" Target="../media/image4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5.png"/><Relationship Id="rId4" Type="http://schemas.openxmlformats.org/officeDocument/2006/relationships/image" Target="../media/image9.png"/><Relationship Id="rId5" Type="http://schemas.openxmlformats.org/officeDocument/2006/relationships/image" Target="../media/image41.png"/><Relationship Id="rId6" Type="http://schemas.openxmlformats.org/officeDocument/2006/relationships/image" Target="../media/image1.png"/><Relationship Id="rId7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8.png"/><Relationship Id="rId6" Type="http://schemas.openxmlformats.org/officeDocument/2006/relationships/image" Target="../media/image20.png"/><Relationship Id="rId7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6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image" Target="../media/image13.png"/><Relationship Id="rId6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youtu.be/T5o1rRgwNyI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21.png"/><Relationship Id="rId5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22.png"/><Relationship Id="rId5" Type="http://schemas.openxmlformats.org/officeDocument/2006/relationships/image" Target="../media/image25.png"/><Relationship Id="rId6" Type="http://schemas.openxmlformats.org/officeDocument/2006/relationships/image" Target="../media/image23.png"/><Relationship Id="rId7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9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2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2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7.png"/><Relationship Id="rId4" Type="http://schemas.openxmlformats.org/officeDocument/2006/relationships/image" Target="../media/image43.png"/><Relationship Id="rId9" Type="http://schemas.openxmlformats.org/officeDocument/2006/relationships/image" Target="../media/image3.png"/><Relationship Id="rId5" Type="http://schemas.openxmlformats.org/officeDocument/2006/relationships/image" Target="../media/image32.png"/><Relationship Id="rId6" Type="http://schemas.openxmlformats.org/officeDocument/2006/relationships/image" Target="../media/image31.png"/><Relationship Id="rId7" Type="http://schemas.openxmlformats.org/officeDocument/2006/relationships/image" Target="../media/image34.png"/><Relationship Id="rId8" Type="http://schemas.openxmlformats.org/officeDocument/2006/relationships/image" Target="../media/image3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github.com/AlcristiSto/er-gestao-patrimonio-ifpe" TargetMode="External"/><Relationship Id="rId4" Type="http://schemas.openxmlformats.org/officeDocument/2006/relationships/image" Target="../media/image3.png"/><Relationship Id="rId5" Type="http://schemas.openxmlformats.org/officeDocument/2006/relationships/image" Target="../media/image3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" name="Google Shape;18;g3edb511d762_1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08156" y="369689"/>
            <a:ext cx="750094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g3edb511d762_1_2"/>
          <p:cNvSpPr/>
          <p:nvPr/>
        </p:nvSpPr>
        <p:spPr>
          <a:xfrm>
            <a:off x="571500" y="364331"/>
            <a:ext cx="6429300" cy="1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942"/>
              <a:buFont typeface="Roboto Mono"/>
              <a:buNone/>
            </a:pPr>
            <a:r>
              <a:rPr b="0" i="0" lang="en-US" sz="942" u="none" cap="none" strike="noStrike">
                <a:solidFill>
                  <a:srgbClr val="0E7C7B"/>
                </a:solidFill>
                <a:latin typeface="Roboto Mono"/>
                <a:ea typeface="Roboto Mono"/>
                <a:cs typeface="Roboto Mono"/>
                <a:sym typeface="Roboto Mono"/>
              </a:rPr>
              <a:t>ENGENHARIA DE REQUISITOS // 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g3edb511d762_1_2"/>
          <p:cNvSpPr/>
          <p:nvPr/>
        </p:nvSpPr>
        <p:spPr>
          <a:xfrm>
            <a:off x="571500" y="840311"/>
            <a:ext cx="6429375" cy="10058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469"/>
              </a:lnSpc>
              <a:spcBef>
                <a:spcPts val="0"/>
              </a:spcBef>
              <a:spcAft>
                <a:spcPts val="0"/>
              </a:spcAft>
              <a:buClr>
                <a:srgbClr val="0B2E33"/>
              </a:buClr>
              <a:buSzPts val="3293"/>
              <a:buFont typeface="Space Grotesk"/>
              <a:buNone/>
            </a:pPr>
            <a:r>
              <a:rPr b="1" i="0" lang="en-US" sz="3293" u="none" cap="none" strike="noStrike">
                <a:solidFill>
                  <a:srgbClr val="0B2E33"/>
                </a:solidFill>
                <a:latin typeface="Space Grotesk"/>
                <a:ea typeface="Space Grotesk"/>
                <a:cs typeface="Space Grotesk"/>
                <a:sym typeface="Space Grotesk"/>
              </a:rPr>
              <a:t>Sistema de Migração de Patrimônio do IFPE</a:t>
            </a:r>
            <a:endParaRPr b="0" i="0" sz="32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g3edb511d762_1_2"/>
          <p:cNvSpPr/>
          <p:nvPr/>
        </p:nvSpPr>
        <p:spPr>
          <a:xfrm>
            <a:off x="571463" y="2152304"/>
            <a:ext cx="64293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713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704"/>
              <a:buFont typeface="Roboto Mono"/>
              <a:buNone/>
            </a:pPr>
            <a:r>
              <a:rPr b="0" i="0" lang="en-US" sz="1704" u="none" cap="none" strike="noStrike">
                <a:solidFill>
                  <a:srgbClr val="334155"/>
                </a:solidFill>
                <a:latin typeface="Roboto Mono"/>
                <a:ea typeface="Roboto Mono"/>
                <a:cs typeface="Roboto Mono"/>
                <a:sym typeface="Roboto Mono"/>
              </a:rPr>
              <a:t>Migração SUAP ➔ SIADS </a:t>
            </a:r>
            <a:endParaRPr b="0" i="0" sz="17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g3edb511d762_1_2"/>
          <p:cNvSpPr/>
          <p:nvPr/>
        </p:nvSpPr>
        <p:spPr>
          <a:xfrm>
            <a:off x="571538" y="3229606"/>
            <a:ext cx="6429300" cy="1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942"/>
              <a:buFont typeface="Roboto Mono"/>
              <a:buNone/>
            </a:pPr>
            <a:r>
              <a:rPr b="0" i="0" lang="en-US" sz="942" u="none" cap="none" strike="noStrike">
                <a:solidFill>
                  <a:srgbClr val="0E7C7B"/>
                </a:solidFill>
                <a:latin typeface="Roboto Mono"/>
                <a:ea typeface="Roboto Mono"/>
                <a:cs typeface="Roboto Mono"/>
                <a:sym typeface="Roboto Mono"/>
              </a:rPr>
              <a:t>ALLAN NASCIMENTO, ARTUR VIEIRA, FRANKLIN </a:t>
            </a:r>
            <a:r>
              <a:rPr lang="en-US" sz="942">
                <a:solidFill>
                  <a:srgbClr val="0E7C7B"/>
                </a:solidFill>
                <a:latin typeface="Roboto Mono"/>
                <a:ea typeface="Roboto Mono"/>
                <a:cs typeface="Roboto Mono"/>
                <a:sym typeface="Roboto Mono"/>
              </a:rPr>
              <a:t>AMARAL</a:t>
            </a:r>
            <a:r>
              <a:rPr b="0" i="0" lang="en-US" sz="942" u="none" cap="none" strike="noStrike">
                <a:solidFill>
                  <a:srgbClr val="0E7C7B"/>
                </a:solidFill>
                <a:latin typeface="Roboto Mono"/>
                <a:ea typeface="Roboto Mono"/>
                <a:cs typeface="Roboto Mono"/>
                <a:sym typeface="Roboto Mono"/>
              </a:rPr>
              <a:t>, Mª CLARA MOURA, Mª ISABELA, MARCOS NASCIMENTO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" name="Google Shape;23;g3edb511d762_1_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210" y="3903300"/>
            <a:ext cx="2145398" cy="64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g3edb511d762_1_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62701" y="4015985"/>
            <a:ext cx="1503829" cy="3989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edb511d762_1_35"/>
          <p:cNvSpPr/>
          <p:nvPr/>
        </p:nvSpPr>
        <p:spPr>
          <a:xfrm>
            <a:off x="0" y="0"/>
            <a:ext cx="25374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g3edb511d762_1_35"/>
          <p:cNvSpPr/>
          <p:nvPr/>
        </p:nvSpPr>
        <p:spPr>
          <a:xfrm>
            <a:off x="411480" y="377190"/>
            <a:ext cx="233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D9D6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FD9D6"/>
                </a:solidFill>
                <a:latin typeface="Space Grotesk"/>
                <a:ea typeface="Space Grotesk"/>
                <a:cs typeface="Space Grotesk"/>
                <a:sym typeface="Space Grotesk"/>
              </a:rPr>
              <a:t>ENTENDENDO O PROBLEMA</a:t>
            </a:r>
            <a:endParaRPr b="0" i="0" sz="9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2" name="Google Shape;32;g3edb511d762_1_35"/>
          <p:cNvSpPr/>
          <p:nvPr/>
        </p:nvSpPr>
        <p:spPr>
          <a:xfrm>
            <a:off x="411480" y="685800"/>
            <a:ext cx="23316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Cambria"/>
              <a:buNone/>
            </a:pPr>
            <a:r>
              <a:rPr b="1" i="0" lang="en-US" sz="23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Contexto do Projeto</a:t>
            </a:r>
            <a:endParaRPr b="0" i="0" sz="23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3" name="Google Shape;33;g3edb511d762_1_35"/>
          <p:cNvSpPr/>
          <p:nvPr/>
        </p:nvSpPr>
        <p:spPr>
          <a:xfrm>
            <a:off x="411480" y="3806190"/>
            <a:ext cx="342900" cy="342900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4" name="Google Shape;34;g3edb511d762_1_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776" y="3888499"/>
            <a:ext cx="178308" cy="178308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g3edb511d762_1_35"/>
          <p:cNvSpPr/>
          <p:nvPr/>
        </p:nvSpPr>
        <p:spPr>
          <a:xfrm>
            <a:off x="857250" y="3806190"/>
            <a:ext cx="1920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E8E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9E8E6"/>
                </a:solidFill>
                <a:latin typeface="Space Grotesk"/>
                <a:ea typeface="Space Grotesk"/>
                <a:cs typeface="Space Grotesk"/>
                <a:sym typeface="Space Grotesk"/>
              </a:rPr>
              <a:t>IFPE — Gestão de Patrimônio</a:t>
            </a:r>
            <a:endParaRPr b="0" i="0" sz="9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6" name="Google Shape;36;g3edb511d762_1_35"/>
          <p:cNvSpPr/>
          <p:nvPr/>
        </p:nvSpPr>
        <p:spPr>
          <a:xfrm>
            <a:off x="3394710" y="720090"/>
            <a:ext cx="2366100" cy="1474500"/>
          </a:xfrm>
          <a:prstGeom prst="roundRect">
            <a:avLst>
              <a:gd fmla="val 3721" name="adj"/>
            </a:avLst>
          </a:prstGeom>
          <a:solidFill>
            <a:srgbClr val="E6F2F2"/>
          </a:solidFill>
          <a:ln>
            <a:noFill/>
          </a:ln>
          <a:effectLst>
            <a:outerShdw blurRad="127000" rotWithShape="0" algn="bl" dir="5400000" dist="38100">
              <a:srgbClr val="0B2E33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7" name="Google Shape;37;g3edb511d762_1_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00450" y="925830"/>
            <a:ext cx="377190" cy="37719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g3edb511d762_1_35"/>
          <p:cNvSpPr/>
          <p:nvPr/>
        </p:nvSpPr>
        <p:spPr>
          <a:xfrm>
            <a:off x="3600450" y="1405890"/>
            <a:ext cx="19545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E33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0B2E33"/>
                </a:solidFill>
                <a:latin typeface="Space Grotesk"/>
                <a:ea typeface="Space Grotesk"/>
                <a:cs typeface="Space Grotesk"/>
                <a:sym typeface="Space Grotesk"/>
              </a:rPr>
              <a:t>SUAP</a:t>
            </a:r>
            <a:endParaRPr b="0" i="0" sz="15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9" name="Google Shape;39;g3edb511d762_1_35"/>
          <p:cNvSpPr/>
          <p:nvPr/>
        </p:nvSpPr>
        <p:spPr>
          <a:xfrm>
            <a:off x="3600450" y="1693926"/>
            <a:ext cx="19545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4535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4535A"/>
                </a:solidFill>
                <a:latin typeface="Space Grotesk"/>
                <a:ea typeface="Space Grotesk"/>
                <a:cs typeface="Space Grotesk"/>
                <a:sym typeface="Space Grotesk"/>
              </a:rPr>
              <a:t>Sistema utilizado até 2024 para gestão de patrimônio, com descrições de itens em </a:t>
            </a:r>
            <a:r>
              <a:rPr b="1" i="0" lang="en-US" sz="800" u="none" cap="none" strike="noStrike">
                <a:solidFill>
                  <a:srgbClr val="44535A"/>
                </a:solidFill>
                <a:latin typeface="Space Grotesk"/>
                <a:ea typeface="Space Grotesk"/>
                <a:cs typeface="Space Grotesk"/>
                <a:sym typeface="Space Grotesk"/>
              </a:rPr>
              <a:t>texto livre</a:t>
            </a:r>
            <a:r>
              <a:rPr b="0" i="0" lang="en-US" sz="800" u="none" cap="none" strike="noStrike">
                <a:solidFill>
                  <a:srgbClr val="44535A"/>
                </a:solidFill>
                <a:latin typeface="Space Grotesk"/>
                <a:ea typeface="Space Grotesk"/>
                <a:cs typeface="Space Grotesk"/>
                <a:sym typeface="Space Grotesk"/>
              </a:rPr>
              <a:t>,</a:t>
            </a:r>
            <a:r>
              <a:rPr b="1" i="0" lang="en-US" sz="800" u="none" cap="none" strike="noStrike">
                <a:solidFill>
                  <a:srgbClr val="44535A"/>
                </a:solidFill>
                <a:latin typeface="Space Grotesk"/>
                <a:ea typeface="Space Grotesk"/>
                <a:cs typeface="Space Grotesk"/>
                <a:sym typeface="Space Grotesk"/>
              </a:rPr>
              <a:t> sem padronização</a:t>
            </a:r>
            <a:r>
              <a:rPr b="0" i="0" lang="en-US" sz="800" u="none" cap="none" strike="noStrike">
                <a:solidFill>
                  <a:srgbClr val="44535A"/>
                </a:solidFill>
                <a:latin typeface="Space Grotesk"/>
                <a:ea typeface="Space Grotesk"/>
                <a:cs typeface="Space Grotesk"/>
                <a:sym typeface="Space Grotesk"/>
              </a:rPr>
              <a:t>.</a:t>
            </a:r>
            <a:endParaRPr b="0" i="0" sz="8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0" name="Google Shape;40;g3edb511d762_1_35"/>
          <p:cNvSpPr/>
          <p:nvPr/>
        </p:nvSpPr>
        <p:spPr>
          <a:xfrm>
            <a:off x="5849874" y="1237869"/>
            <a:ext cx="438900" cy="438900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1" name="Google Shape;41;g3edb511d762_1_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45886" y="1333881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g3edb511d762_1_35"/>
          <p:cNvSpPr/>
          <p:nvPr/>
        </p:nvSpPr>
        <p:spPr>
          <a:xfrm>
            <a:off x="6412230" y="720090"/>
            <a:ext cx="2366100" cy="1474500"/>
          </a:xfrm>
          <a:prstGeom prst="roundRect">
            <a:avLst>
              <a:gd fmla="val 3721" name="adj"/>
            </a:avLst>
          </a:prstGeom>
          <a:solidFill>
            <a:srgbClr val="0E5E66"/>
          </a:solidFill>
          <a:ln>
            <a:noFill/>
          </a:ln>
          <a:effectLst>
            <a:outerShdw blurRad="127000" rotWithShape="0" algn="bl" dir="5400000" dist="38100">
              <a:srgbClr val="0B2E33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3" name="Google Shape;43;g3edb511d762_1_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17970" y="925830"/>
            <a:ext cx="377190" cy="37719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g3edb511d762_1_35"/>
          <p:cNvSpPr/>
          <p:nvPr/>
        </p:nvSpPr>
        <p:spPr>
          <a:xfrm>
            <a:off x="6617970" y="1405890"/>
            <a:ext cx="19545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SIADS</a:t>
            </a:r>
            <a:endParaRPr b="0" i="0" sz="15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5" name="Google Shape;45;g3edb511d762_1_35"/>
          <p:cNvSpPr/>
          <p:nvPr/>
        </p:nvSpPr>
        <p:spPr>
          <a:xfrm>
            <a:off x="6617970" y="1693926"/>
            <a:ext cx="19545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DCEFEE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DCEFEE"/>
                </a:solidFill>
                <a:latin typeface="Space Grotesk"/>
                <a:ea typeface="Space Grotesk"/>
                <a:cs typeface="Space Grotesk"/>
                <a:sym typeface="Space Grotesk"/>
              </a:rPr>
              <a:t>Sistema atual de gestão patrimonial, que recebe os dados migrados das </a:t>
            </a:r>
            <a:r>
              <a:rPr b="1" i="0" lang="en-US" sz="800" u="none" cap="none" strike="noStrike">
                <a:solidFill>
                  <a:srgbClr val="DCEFEE"/>
                </a:solidFill>
                <a:latin typeface="Space Grotesk"/>
                <a:ea typeface="Space Grotesk"/>
                <a:cs typeface="Space Grotesk"/>
                <a:sym typeface="Space Grotesk"/>
              </a:rPr>
              <a:t>bases legadas</a:t>
            </a:r>
            <a:r>
              <a:rPr b="0" i="0" lang="en-US" sz="800" u="none" cap="none" strike="noStrike">
                <a:solidFill>
                  <a:srgbClr val="DCEFEE"/>
                </a:solidFill>
                <a:latin typeface="Space Grotesk"/>
                <a:ea typeface="Space Grotesk"/>
                <a:cs typeface="Space Grotesk"/>
                <a:sym typeface="Space Grotesk"/>
              </a:rPr>
              <a:t>.</a:t>
            </a:r>
            <a:endParaRPr b="0" i="0" sz="8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6" name="Google Shape;46;g3edb511d762_1_35"/>
          <p:cNvSpPr/>
          <p:nvPr/>
        </p:nvSpPr>
        <p:spPr>
          <a:xfrm>
            <a:off x="3394710" y="2503170"/>
            <a:ext cx="5383500" cy="1954500"/>
          </a:xfrm>
          <a:prstGeom prst="roundRect">
            <a:avLst>
              <a:gd fmla="val 2807" name="adj"/>
            </a:avLst>
          </a:prstGeom>
          <a:solidFill>
            <a:srgbClr val="F7FAFA"/>
          </a:solidFill>
          <a:ln>
            <a:noFill/>
          </a:ln>
          <a:effectLst>
            <a:outerShdw blurRad="127000" rotWithShape="0" algn="bl" dir="5400000" dist="38100">
              <a:srgbClr val="0B2E33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g3edb511d762_1_35"/>
          <p:cNvSpPr/>
          <p:nvPr/>
        </p:nvSpPr>
        <p:spPr>
          <a:xfrm>
            <a:off x="3669030" y="2722626"/>
            <a:ext cx="4800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E33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0B2E33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Problemas Identificados:</a:t>
            </a:r>
            <a:endParaRPr b="0" i="0" sz="12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descr="preencoded.png" id="48" name="Google Shape;48;g3edb511d762_1_3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69030" y="3154680"/>
            <a:ext cx="233172" cy="233172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g3edb511d762_1_35"/>
          <p:cNvSpPr/>
          <p:nvPr/>
        </p:nvSpPr>
        <p:spPr>
          <a:xfrm>
            <a:off x="4025646" y="3106674"/>
            <a:ext cx="47664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4535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535A"/>
                </a:solidFill>
                <a:latin typeface="Space Grotesk"/>
                <a:ea typeface="Space Grotesk"/>
                <a:cs typeface="Space Grotesk"/>
                <a:sym typeface="Space Grotesk"/>
              </a:rPr>
              <a:t>O </a:t>
            </a:r>
            <a:r>
              <a:rPr b="1" i="0" lang="en-US" sz="900" u="none" cap="none" strike="noStrike">
                <a:solidFill>
                  <a:srgbClr val="44535A"/>
                </a:solidFill>
                <a:latin typeface="Space Grotesk"/>
                <a:ea typeface="Space Grotesk"/>
                <a:cs typeface="Space Grotesk"/>
                <a:sym typeface="Space Grotesk"/>
              </a:rPr>
              <a:t>SUAP permite descrições livres dos itens patrimoniais</a:t>
            </a:r>
            <a:r>
              <a:rPr b="0" i="0" lang="en-US" sz="900" u="none" cap="none" strike="noStrike">
                <a:solidFill>
                  <a:srgbClr val="44535A"/>
                </a:solidFill>
                <a:latin typeface="Space Grotesk"/>
                <a:ea typeface="Space Grotesk"/>
                <a:cs typeface="Space Grotesk"/>
                <a:sym typeface="Space Grotesk"/>
              </a:rPr>
              <a:t>, sem qualquer padronização de formato ou nomenclatura.</a:t>
            </a:r>
            <a:endParaRPr b="0" i="0" sz="9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descr="preencoded.png" id="50" name="Google Shape;50;g3edb511d762_1_3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669030" y="3579876"/>
            <a:ext cx="233172" cy="233172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g3edb511d762_1_35"/>
          <p:cNvSpPr/>
          <p:nvPr/>
        </p:nvSpPr>
        <p:spPr>
          <a:xfrm>
            <a:off x="4025646" y="3531870"/>
            <a:ext cx="47664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4535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535A"/>
                </a:solidFill>
                <a:latin typeface="Space Grotesk"/>
                <a:ea typeface="Space Grotesk"/>
                <a:cs typeface="Space Grotesk"/>
                <a:sym typeface="Space Grotesk"/>
              </a:rPr>
              <a:t>Essa </a:t>
            </a:r>
            <a:r>
              <a:rPr b="1" i="0" lang="en-US" sz="900" u="none" cap="none" strike="noStrike">
                <a:solidFill>
                  <a:srgbClr val="44535A"/>
                </a:solidFill>
                <a:latin typeface="Space Grotesk"/>
                <a:ea typeface="Space Grotesk"/>
                <a:cs typeface="Space Grotesk"/>
                <a:sym typeface="Space Grotesk"/>
              </a:rPr>
              <a:t>liberdade dificulta a importação dos dados para o SIADS</a:t>
            </a:r>
            <a:r>
              <a:rPr b="0" i="0" lang="en-US" sz="900" u="none" cap="none" strike="noStrike">
                <a:solidFill>
                  <a:srgbClr val="44535A"/>
                </a:solidFill>
                <a:latin typeface="Space Grotesk"/>
                <a:ea typeface="Space Grotesk"/>
                <a:cs typeface="Space Grotesk"/>
                <a:sym typeface="Space Grotesk"/>
              </a:rPr>
              <a:t>, que exige estrutura e consistência.</a:t>
            </a:r>
            <a:endParaRPr b="0" i="0" sz="9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descr="preencoded.png" id="52" name="Google Shape;52;g3edb511d762_1_3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669030" y="4005072"/>
            <a:ext cx="233172" cy="23317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g3edb511d762_1_35"/>
          <p:cNvSpPr/>
          <p:nvPr/>
        </p:nvSpPr>
        <p:spPr>
          <a:xfrm>
            <a:off x="4025646" y="3957066"/>
            <a:ext cx="47664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4535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535A"/>
                </a:solidFill>
                <a:latin typeface="Space Grotesk"/>
                <a:ea typeface="Space Grotesk"/>
                <a:cs typeface="Space Grotesk"/>
                <a:sym typeface="Space Grotesk"/>
              </a:rPr>
              <a:t>O </a:t>
            </a:r>
            <a:r>
              <a:rPr b="1" i="0" lang="en-US" sz="900" u="none" cap="none" strike="noStrike">
                <a:solidFill>
                  <a:srgbClr val="44535A"/>
                </a:solidFill>
                <a:latin typeface="Space Grotesk"/>
                <a:ea typeface="Space Grotesk"/>
                <a:cs typeface="Space Grotesk"/>
                <a:sym typeface="Space Grotesk"/>
              </a:rPr>
              <a:t>resultado é uma base legada de difícil consulta</a:t>
            </a:r>
            <a:r>
              <a:rPr b="0" i="0" lang="en-US" sz="900" u="none" cap="none" strike="noStrike">
                <a:solidFill>
                  <a:srgbClr val="44535A"/>
                </a:solidFill>
                <a:latin typeface="Space Grotesk"/>
                <a:ea typeface="Space Grotesk"/>
                <a:cs typeface="Space Grotesk"/>
                <a:sym typeface="Space Grotesk"/>
              </a:rPr>
              <a:t>, presente em diversas unidades da rede federal.</a:t>
            </a:r>
            <a:endParaRPr b="0" i="0" sz="9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54" name="Google Shape;54;g3edb511d762_1_3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470136" y="0"/>
            <a:ext cx="1673861" cy="49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edb511d762_1_64"/>
          <p:cNvSpPr/>
          <p:nvPr/>
        </p:nvSpPr>
        <p:spPr>
          <a:xfrm>
            <a:off x="559780" y="1346585"/>
            <a:ext cx="2537400" cy="1268700"/>
          </a:xfrm>
          <a:prstGeom prst="roundRect">
            <a:avLst>
              <a:gd fmla="val 4324" name="adj"/>
            </a:avLst>
          </a:prstGeom>
          <a:solidFill>
            <a:srgbClr val="FBEFE3"/>
          </a:solidFill>
          <a:ln>
            <a:noFill/>
          </a:ln>
          <a:effectLst>
            <a:outerShdw blurRad="127000" rotWithShape="0" algn="bl" dir="5400000" dist="38100">
              <a:srgbClr val="0B2E33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1" name="Google Shape;61;g3edb511d762_1_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9810" y="1538609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g3edb511d762_1_64"/>
          <p:cNvSpPr/>
          <p:nvPr/>
        </p:nvSpPr>
        <p:spPr>
          <a:xfrm>
            <a:off x="799810" y="1950089"/>
            <a:ext cx="2057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E33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0B2E33"/>
                </a:solidFill>
                <a:latin typeface="Space Grotesk"/>
                <a:ea typeface="Space Grotesk"/>
                <a:cs typeface="Space Grotesk"/>
                <a:sym typeface="Space Grotesk"/>
              </a:rPr>
              <a:t>Descrições Inconsistentes</a:t>
            </a:r>
            <a:endParaRPr b="0" i="0" sz="11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3" name="Google Shape;63;g3edb511d762_1_64"/>
          <p:cNvSpPr/>
          <p:nvPr/>
        </p:nvSpPr>
        <p:spPr>
          <a:xfrm>
            <a:off x="799810" y="2224409"/>
            <a:ext cx="2091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4535A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44535A"/>
                </a:solidFill>
                <a:latin typeface="Space Grotesk"/>
                <a:ea typeface="Space Grotesk"/>
                <a:cs typeface="Space Grotesk"/>
                <a:sym typeface="Space Grotesk"/>
              </a:rPr>
              <a:t>Ex.: "Cadeira azul", "cadeira de escritorio azul c/ rodas", "CADEIRA AZUL ROD."</a:t>
            </a:r>
            <a:endParaRPr b="0" i="0" sz="8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4" name="Google Shape;64;g3edb511d762_1_64"/>
          <p:cNvSpPr/>
          <p:nvPr/>
        </p:nvSpPr>
        <p:spPr>
          <a:xfrm>
            <a:off x="3316696" y="1747778"/>
            <a:ext cx="466200" cy="4662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C974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5" name="Google Shape;65;g3edb511d762_1_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6424" y="1843790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g3edb511d762_1_64"/>
          <p:cNvSpPr/>
          <p:nvPr/>
        </p:nvSpPr>
        <p:spPr>
          <a:xfrm>
            <a:off x="3988780" y="1346585"/>
            <a:ext cx="2126100" cy="1268700"/>
          </a:xfrm>
          <a:prstGeom prst="roundRect">
            <a:avLst>
              <a:gd fmla="val 4324" name="adj"/>
            </a:avLst>
          </a:prstGeom>
          <a:solidFill>
            <a:srgbClr val="E6F2F2"/>
          </a:solidFill>
          <a:ln>
            <a:noFill/>
          </a:ln>
          <a:effectLst>
            <a:outerShdw blurRad="127000" rotWithShape="0" algn="bl" dir="5400000" dist="38100">
              <a:srgbClr val="0B2E33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7" name="Google Shape;67;g3edb511d762_1_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94520" y="1538609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g3edb511d762_1_64"/>
          <p:cNvSpPr/>
          <p:nvPr/>
        </p:nvSpPr>
        <p:spPr>
          <a:xfrm>
            <a:off x="4194520" y="1950089"/>
            <a:ext cx="1714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E33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0B2E33"/>
                </a:solidFill>
                <a:latin typeface="Space Grotesk"/>
                <a:ea typeface="Space Grotesk"/>
                <a:cs typeface="Space Grotesk"/>
                <a:sym typeface="Space Grotesk"/>
              </a:rPr>
              <a:t>Importação Complexa</a:t>
            </a:r>
            <a:endParaRPr b="0" i="0" sz="11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9" name="Google Shape;69;g3edb511d762_1_64"/>
          <p:cNvSpPr/>
          <p:nvPr/>
        </p:nvSpPr>
        <p:spPr>
          <a:xfrm>
            <a:off x="4194520" y="2280000"/>
            <a:ext cx="1748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4535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4535A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Processo de </a:t>
            </a:r>
            <a:r>
              <a:rPr b="1" i="0" lang="en-US" sz="800" u="none" cap="none" strike="noStrike">
                <a:solidFill>
                  <a:srgbClr val="44535A"/>
                </a:solidFill>
                <a:latin typeface="Space Grotesk"/>
                <a:ea typeface="Space Grotesk"/>
                <a:cs typeface="Space Grotesk"/>
                <a:sym typeface="Space Grotesk"/>
              </a:rPr>
              <a:t>carga manual</a:t>
            </a:r>
            <a:r>
              <a:rPr b="0" i="0" lang="en-US" sz="800" u="none" cap="none" strike="noStrike">
                <a:solidFill>
                  <a:srgbClr val="44535A"/>
                </a:solidFill>
                <a:latin typeface="Space Grotesk"/>
                <a:ea typeface="Space Grotesk"/>
                <a:cs typeface="Space Grotesk"/>
                <a:sym typeface="Space Grotesk"/>
              </a:rPr>
              <a:t>, sujeito a </a:t>
            </a:r>
            <a:r>
              <a:rPr b="1" i="0" lang="en-US" sz="800" u="none" cap="none" strike="noStrike">
                <a:solidFill>
                  <a:srgbClr val="44535A"/>
                </a:solidFill>
                <a:latin typeface="Space Grotesk"/>
                <a:ea typeface="Space Grotesk"/>
                <a:cs typeface="Space Grotesk"/>
                <a:sym typeface="Space Grotesk"/>
              </a:rPr>
              <a:t>retrabalho </a:t>
            </a:r>
            <a:r>
              <a:rPr b="0" i="0" lang="en-US" sz="800" u="none" cap="none" strike="noStrike">
                <a:solidFill>
                  <a:srgbClr val="44535A"/>
                </a:solidFill>
                <a:latin typeface="Space Grotesk"/>
                <a:ea typeface="Space Grotesk"/>
                <a:cs typeface="Space Grotesk"/>
                <a:sym typeface="Space Grotesk"/>
              </a:rPr>
              <a:t>e </a:t>
            </a:r>
            <a:r>
              <a:rPr b="1" i="0" lang="en-US" sz="800" u="none" cap="none" strike="noStrike">
                <a:solidFill>
                  <a:srgbClr val="44535A"/>
                </a:solidFill>
                <a:latin typeface="Space Grotesk"/>
                <a:ea typeface="Space Grotesk"/>
                <a:cs typeface="Space Grotesk"/>
                <a:sym typeface="Space Grotesk"/>
              </a:rPr>
              <a:t>erro humano</a:t>
            </a:r>
            <a:r>
              <a:rPr b="0" i="0" lang="en-US" sz="800" u="none" cap="none" strike="noStrike">
                <a:solidFill>
                  <a:srgbClr val="44535A"/>
                </a:solidFill>
                <a:latin typeface="Space Grotesk"/>
                <a:ea typeface="Space Grotesk"/>
                <a:cs typeface="Space Grotesk"/>
                <a:sym typeface="Space Grotesk"/>
              </a:rPr>
              <a:t>.</a:t>
            </a:r>
            <a:endParaRPr b="0" i="0" sz="8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70" name="Google Shape;70;g3edb511d762_1_64"/>
          <p:cNvSpPr/>
          <p:nvPr/>
        </p:nvSpPr>
        <p:spPr>
          <a:xfrm>
            <a:off x="6286210" y="1747778"/>
            <a:ext cx="466200" cy="466200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1" name="Google Shape;71;g3edb511d762_1_6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5938" y="1843790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g3edb511d762_1_64"/>
          <p:cNvSpPr/>
          <p:nvPr/>
        </p:nvSpPr>
        <p:spPr>
          <a:xfrm>
            <a:off x="6972010" y="1346585"/>
            <a:ext cx="1906500" cy="1268700"/>
          </a:xfrm>
          <a:prstGeom prst="roundRect">
            <a:avLst>
              <a:gd fmla="val 4324" name="adj"/>
            </a:avLst>
          </a:prstGeom>
          <a:solidFill>
            <a:srgbClr val="0B2E33"/>
          </a:solidFill>
          <a:ln>
            <a:noFill/>
          </a:ln>
          <a:effectLst>
            <a:outerShdw blurRad="127000" rotWithShape="0" algn="bl" dir="5400000" dist="38100">
              <a:srgbClr val="0B2E33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3" name="Google Shape;73;g3edb511d762_1_6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64034" y="1538609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g3edb511d762_1_64"/>
          <p:cNvSpPr/>
          <p:nvPr/>
        </p:nvSpPr>
        <p:spPr>
          <a:xfrm>
            <a:off x="7164034" y="1950089"/>
            <a:ext cx="15774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Base Legada</a:t>
            </a:r>
            <a:endParaRPr b="0" i="0" sz="11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de Difícil Consulta</a:t>
            </a:r>
            <a:endParaRPr b="0" i="0" sz="11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75" name="Google Shape;75;g3edb511d762_1_64"/>
          <p:cNvSpPr/>
          <p:nvPr/>
        </p:nvSpPr>
        <p:spPr>
          <a:xfrm>
            <a:off x="559780" y="2923925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E33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0B2E33"/>
                </a:solidFill>
                <a:latin typeface="Space Grotesk"/>
                <a:ea typeface="Space Grotesk"/>
                <a:cs typeface="Space Grotesk"/>
                <a:sym typeface="Space Grotesk"/>
              </a:rPr>
              <a:t>Por que isso é crítico?</a:t>
            </a:r>
            <a:endParaRPr b="0" i="0" sz="12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76" name="Google Shape;76;g3edb511d762_1_64"/>
          <p:cNvSpPr/>
          <p:nvPr/>
        </p:nvSpPr>
        <p:spPr>
          <a:xfrm>
            <a:off x="559780" y="3301115"/>
            <a:ext cx="2709000" cy="1337400"/>
          </a:xfrm>
          <a:prstGeom prst="roundRect">
            <a:avLst>
              <a:gd fmla="val 3590" name="adj"/>
            </a:avLst>
          </a:prstGeom>
          <a:solidFill>
            <a:srgbClr val="F7FAFA"/>
          </a:solidFill>
          <a:ln>
            <a:noFill/>
          </a:ln>
          <a:effectLst>
            <a:outerShdw blurRad="127000" rotWithShape="0" algn="bl" dir="5400000" dist="38100">
              <a:srgbClr val="0B2E33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g3edb511d762_1_64"/>
          <p:cNvSpPr/>
          <p:nvPr/>
        </p:nvSpPr>
        <p:spPr>
          <a:xfrm>
            <a:off x="751804" y="3479423"/>
            <a:ext cx="315600" cy="315600"/>
          </a:xfrm>
          <a:prstGeom prst="ellipse">
            <a:avLst/>
          </a:prstGeom>
          <a:solidFill>
            <a:srgbClr val="C9742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g3edb511d762_1_64"/>
          <p:cNvSpPr/>
          <p:nvPr/>
        </p:nvSpPr>
        <p:spPr>
          <a:xfrm>
            <a:off x="751804" y="3479423"/>
            <a:ext cx="3156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79" name="Google Shape;79;g3edb511d762_1_64"/>
          <p:cNvSpPr/>
          <p:nvPr/>
        </p:nvSpPr>
        <p:spPr>
          <a:xfrm>
            <a:off x="1142710" y="3486281"/>
            <a:ext cx="19545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E33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0B2E33"/>
                </a:solidFill>
                <a:latin typeface="Space Grotesk"/>
                <a:ea typeface="Space Grotesk"/>
                <a:cs typeface="Space Grotesk"/>
                <a:sym typeface="Space Grotesk"/>
              </a:rPr>
              <a:t>Inconsistência</a:t>
            </a:r>
            <a:endParaRPr b="0" i="0" sz="11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80" name="Google Shape;80;g3edb511d762_1_64"/>
          <p:cNvSpPr/>
          <p:nvPr/>
        </p:nvSpPr>
        <p:spPr>
          <a:xfrm>
            <a:off x="751804" y="3932051"/>
            <a:ext cx="23250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535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4535A"/>
                </a:solidFill>
                <a:latin typeface="Space Grotesk"/>
                <a:ea typeface="Space Grotesk"/>
                <a:cs typeface="Space Grotesk"/>
                <a:sym typeface="Space Grotesk"/>
              </a:rPr>
              <a:t>As descrições dos itens patrimoniais variam item a item, sem um padrão entre unidades.</a:t>
            </a:r>
            <a:endParaRPr b="0" i="0" sz="8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81" name="Google Shape;81;g3edb511d762_1_64"/>
          <p:cNvSpPr/>
          <p:nvPr/>
        </p:nvSpPr>
        <p:spPr>
          <a:xfrm>
            <a:off x="3453856" y="3301115"/>
            <a:ext cx="2709000" cy="1337400"/>
          </a:xfrm>
          <a:prstGeom prst="roundRect">
            <a:avLst>
              <a:gd fmla="val 3590" name="adj"/>
            </a:avLst>
          </a:prstGeom>
          <a:solidFill>
            <a:srgbClr val="F7FAFA"/>
          </a:solidFill>
          <a:ln>
            <a:noFill/>
          </a:ln>
          <a:effectLst>
            <a:outerShdw blurRad="127000" rotWithShape="0" algn="bl" dir="5400000" dist="38100">
              <a:srgbClr val="0B2E33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g3edb511d762_1_64"/>
          <p:cNvSpPr/>
          <p:nvPr/>
        </p:nvSpPr>
        <p:spPr>
          <a:xfrm>
            <a:off x="3645880" y="3479423"/>
            <a:ext cx="315600" cy="315600"/>
          </a:xfrm>
          <a:prstGeom prst="ellipse">
            <a:avLst/>
          </a:prstGeom>
          <a:solidFill>
            <a:srgbClr val="C9742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g3edb511d762_1_64"/>
          <p:cNvSpPr/>
          <p:nvPr/>
        </p:nvSpPr>
        <p:spPr>
          <a:xfrm>
            <a:off x="3645880" y="3479423"/>
            <a:ext cx="3156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84" name="Google Shape;84;g3edb511d762_1_64"/>
          <p:cNvSpPr/>
          <p:nvPr/>
        </p:nvSpPr>
        <p:spPr>
          <a:xfrm>
            <a:off x="4036786" y="3486281"/>
            <a:ext cx="19545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E33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0B2E33"/>
                </a:solidFill>
                <a:latin typeface="Space Grotesk"/>
                <a:ea typeface="Space Grotesk"/>
                <a:cs typeface="Space Grotesk"/>
                <a:sym typeface="Space Grotesk"/>
              </a:rPr>
              <a:t>Erros de Importação</a:t>
            </a:r>
            <a:endParaRPr b="0" i="0" sz="11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85" name="Google Shape;85;g3edb511d762_1_64"/>
          <p:cNvSpPr/>
          <p:nvPr/>
        </p:nvSpPr>
        <p:spPr>
          <a:xfrm>
            <a:off x="3645880" y="3932051"/>
            <a:ext cx="23250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535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4535A"/>
                </a:solidFill>
                <a:latin typeface="Space Grotesk"/>
                <a:ea typeface="Space Grotesk"/>
                <a:cs typeface="Space Grotesk"/>
                <a:sym typeface="Space Grotesk"/>
              </a:rPr>
              <a:t>O processo de carga para o SIADS fica complexo e propenso a falhas de mapeamento.</a:t>
            </a:r>
            <a:endParaRPr b="0" i="0" sz="8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86" name="Google Shape;86;g3edb511d762_1_64"/>
          <p:cNvSpPr/>
          <p:nvPr/>
        </p:nvSpPr>
        <p:spPr>
          <a:xfrm>
            <a:off x="6347932" y="3301115"/>
            <a:ext cx="2709000" cy="1337400"/>
          </a:xfrm>
          <a:prstGeom prst="roundRect">
            <a:avLst>
              <a:gd fmla="val 3590" name="adj"/>
            </a:avLst>
          </a:prstGeom>
          <a:solidFill>
            <a:srgbClr val="F7FAFA"/>
          </a:solidFill>
          <a:ln>
            <a:noFill/>
          </a:ln>
          <a:effectLst>
            <a:outerShdw blurRad="127000" rotWithShape="0" algn="bl" dir="5400000" dist="38100">
              <a:srgbClr val="0B2E33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g3edb511d762_1_64"/>
          <p:cNvSpPr/>
          <p:nvPr/>
        </p:nvSpPr>
        <p:spPr>
          <a:xfrm>
            <a:off x="6539956" y="3479423"/>
            <a:ext cx="315600" cy="315600"/>
          </a:xfrm>
          <a:prstGeom prst="ellipse">
            <a:avLst/>
          </a:prstGeom>
          <a:solidFill>
            <a:srgbClr val="C9742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g3edb511d762_1_64"/>
          <p:cNvSpPr/>
          <p:nvPr/>
        </p:nvSpPr>
        <p:spPr>
          <a:xfrm>
            <a:off x="6545660" y="3479423"/>
            <a:ext cx="3156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89" name="Google Shape;89;g3edb511d762_1_64"/>
          <p:cNvSpPr/>
          <p:nvPr/>
        </p:nvSpPr>
        <p:spPr>
          <a:xfrm>
            <a:off x="6930862" y="3486281"/>
            <a:ext cx="19545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E33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0B2E33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Integridade em Risco</a:t>
            </a:r>
            <a:endParaRPr b="0" i="0" sz="11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90" name="Google Shape;90;g3edb511d762_1_64"/>
          <p:cNvSpPr/>
          <p:nvPr/>
        </p:nvSpPr>
        <p:spPr>
          <a:xfrm>
            <a:off x="6539956" y="3932051"/>
            <a:ext cx="23250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535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4535A"/>
                </a:solidFill>
                <a:latin typeface="Space Grotesk"/>
                <a:ea typeface="Space Grotesk"/>
                <a:cs typeface="Space Grotesk"/>
                <a:sym typeface="Space Grotesk"/>
              </a:rPr>
              <a:t>Sem padronização, a integridade dos dados e o uso futuro do sistema ficam comprometidos.</a:t>
            </a:r>
            <a:endParaRPr b="0" i="0" sz="8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91" name="Google Shape;91;g3edb511d762_1_64"/>
          <p:cNvSpPr txBox="1"/>
          <p:nvPr/>
        </p:nvSpPr>
        <p:spPr>
          <a:xfrm>
            <a:off x="468493" y="226775"/>
            <a:ext cx="697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B2E33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Problemas Identificados</a:t>
            </a:r>
            <a:endParaRPr b="0" i="0" sz="3000" u="none" cap="none" strike="noStrike">
              <a:solidFill>
                <a:srgbClr val="0B2E33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92" name="Google Shape;92;g3edb511d762_1_6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470136" y="0"/>
            <a:ext cx="1673861" cy="49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db511d762_1_101"/>
          <p:cNvSpPr/>
          <p:nvPr/>
        </p:nvSpPr>
        <p:spPr>
          <a:xfrm>
            <a:off x="487680" y="381000"/>
            <a:ext cx="425100" cy="425100"/>
          </a:xfrm>
          <a:prstGeom prst="ellipse">
            <a:avLst/>
          </a:prstGeom>
          <a:solidFill>
            <a:srgbClr val="0B2E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99" name="Google Shape;99;g3edb511d762_1_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0550" y="48387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g3edb511d762_1_101"/>
          <p:cNvSpPr/>
          <p:nvPr/>
        </p:nvSpPr>
        <p:spPr>
          <a:xfrm>
            <a:off x="979929" y="297472"/>
            <a:ext cx="76809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3000" u="none" cap="none" strike="noStrike">
                <a:solidFill>
                  <a:srgbClr val="0B2E33"/>
                </a:solidFill>
                <a:latin typeface="Space Grotesk"/>
                <a:ea typeface="Space Grotesk"/>
                <a:cs typeface="Space Grotesk"/>
                <a:sym typeface="Space Grotesk"/>
              </a:rPr>
              <a:t>Objetivo do Projeto</a:t>
            </a:r>
            <a:endParaRPr b="0" i="0" sz="3000" u="none" cap="none" strike="noStrike">
              <a:solidFill>
                <a:srgbClr val="0B2E33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01" name="Google Shape;101;g3edb511d762_1_101"/>
          <p:cNvSpPr/>
          <p:nvPr/>
        </p:nvSpPr>
        <p:spPr>
          <a:xfrm>
            <a:off x="551303" y="1825360"/>
            <a:ext cx="2640300" cy="1748700"/>
          </a:xfrm>
          <a:prstGeom prst="roundRect">
            <a:avLst>
              <a:gd fmla="val 3137" name="adj"/>
            </a:avLst>
          </a:prstGeom>
          <a:solidFill>
            <a:srgbClr val="FFFFFF"/>
          </a:solidFill>
          <a:ln>
            <a:noFill/>
          </a:ln>
          <a:effectLst>
            <a:outerShdw blurRad="127000" rotWithShape="0" algn="bl" dir="5400000" dist="38100">
              <a:srgbClr val="0B2E33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02" name="Google Shape;102;g3edb511d762_1_101"/>
          <p:cNvSpPr/>
          <p:nvPr/>
        </p:nvSpPr>
        <p:spPr>
          <a:xfrm>
            <a:off x="630936" y="2044816"/>
            <a:ext cx="425100" cy="425100"/>
          </a:xfrm>
          <a:prstGeom prst="ellipse">
            <a:avLst/>
          </a:prstGeom>
          <a:solidFill>
            <a:srgbClr val="E7F7E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3" name="Google Shape;103;g3edb511d762_1_10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6948" y="2140828"/>
            <a:ext cx="233172" cy="233172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g3edb511d762_1_101"/>
          <p:cNvSpPr/>
          <p:nvPr/>
        </p:nvSpPr>
        <p:spPr>
          <a:xfrm>
            <a:off x="770759" y="2566024"/>
            <a:ext cx="22014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B2E33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0B2E33"/>
                </a:solidFill>
                <a:latin typeface="Space Grotesk"/>
                <a:ea typeface="Space Grotesk"/>
                <a:cs typeface="Space Grotesk"/>
                <a:sym typeface="Space Grotesk"/>
              </a:rPr>
              <a:t>Eficiência no processo</a:t>
            </a:r>
            <a:endParaRPr b="0" i="0" sz="12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05" name="Google Shape;105;g3edb511d762_1_101"/>
          <p:cNvSpPr/>
          <p:nvPr/>
        </p:nvSpPr>
        <p:spPr>
          <a:xfrm>
            <a:off x="770759" y="2936356"/>
            <a:ext cx="22014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44535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535A"/>
                </a:solidFill>
                <a:latin typeface="Space Grotesk"/>
                <a:ea typeface="Space Grotesk"/>
                <a:cs typeface="Space Grotesk"/>
                <a:sym typeface="Space Grotesk"/>
              </a:rPr>
              <a:t>Tornar a migração de dados </a:t>
            </a:r>
            <a:r>
              <a:rPr b="1" i="0" lang="en-US" sz="900" u="none" cap="none" strike="noStrike">
                <a:solidFill>
                  <a:srgbClr val="44535A"/>
                </a:solidFill>
                <a:latin typeface="Space Grotesk"/>
                <a:ea typeface="Space Grotesk"/>
                <a:cs typeface="Space Grotesk"/>
                <a:sym typeface="Space Grotesk"/>
              </a:rPr>
              <a:t>mais rápida</a:t>
            </a:r>
            <a:r>
              <a:rPr b="0" i="0" lang="en-US" sz="900" u="none" cap="none" strike="noStrike">
                <a:solidFill>
                  <a:srgbClr val="44535A"/>
                </a:solidFill>
                <a:latin typeface="Space Grotesk"/>
                <a:ea typeface="Space Grotesk"/>
                <a:cs typeface="Space Grotesk"/>
                <a:sym typeface="Space Grotesk"/>
              </a:rPr>
              <a:t> e </a:t>
            </a:r>
            <a:r>
              <a:rPr b="1" i="0" lang="en-US" sz="900" u="none" cap="none" strike="noStrike">
                <a:solidFill>
                  <a:srgbClr val="44535A"/>
                </a:solidFill>
                <a:latin typeface="Space Grotesk"/>
                <a:ea typeface="Space Grotesk"/>
                <a:cs typeface="Space Grotesk"/>
                <a:sym typeface="Space Grotesk"/>
              </a:rPr>
              <a:t>menos sujeita a retrabalho manual</a:t>
            </a:r>
            <a:r>
              <a:rPr b="0" i="0" lang="en-US" sz="900" u="none" cap="none" strike="noStrike">
                <a:solidFill>
                  <a:srgbClr val="44535A"/>
                </a:solidFill>
                <a:latin typeface="Space Grotesk"/>
                <a:ea typeface="Space Grotesk"/>
                <a:cs typeface="Space Grotesk"/>
                <a:sym typeface="Space Grotesk"/>
              </a:rPr>
              <a:t> entre sistemas.</a:t>
            </a:r>
            <a:endParaRPr b="0" i="0" sz="9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06" name="Google Shape;106;g3edb511d762_1_101"/>
          <p:cNvSpPr/>
          <p:nvPr/>
        </p:nvSpPr>
        <p:spPr>
          <a:xfrm>
            <a:off x="3404231" y="1825360"/>
            <a:ext cx="2640300" cy="1748700"/>
          </a:xfrm>
          <a:prstGeom prst="roundRect">
            <a:avLst>
              <a:gd fmla="val 3137" name="adj"/>
            </a:avLst>
          </a:prstGeom>
          <a:solidFill>
            <a:srgbClr val="FFFFFF"/>
          </a:solidFill>
          <a:ln>
            <a:noFill/>
          </a:ln>
          <a:effectLst>
            <a:outerShdw blurRad="127000" rotWithShape="0" algn="bl" dir="5400000" dist="38100">
              <a:srgbClr val="0B2E33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07" name="Google Shape;107;g3edb511d762_1_101"/>
          <p:cNvSpPr/>
          <p:nvPr/>
        </p:nvSpPr>
        <p:spPr>
          <a:xfrm>
            <a:off x="3623687" y="2044816"/>
            <a:ext cx="425100" cy="425100"/>
          </a:xfrm>
          <a:prstGeom prst="ellipse">
            <a:avLst/>
          </a:prstGeom>
          <a:solidFill>
            <a:srgbClr val="E7F7E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8" name="Google Shape;108;g3edb511d762_1_10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19699" y="2140828"/>
            <a:ext cx="233172" cy="23317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g3edb511d762_1_101"/>
          <p:cNvSpPr/>
          <p:nvPr/>
        </p:nvSpPr>
        <p:spPr>
          <a:xfrm>
            <a:off x="3623687" y="2566024"/>
            <a:ext cx="22014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B2E33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0B2E33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Integridade e conformidade</a:t>
            </a:r>
            <a:endParaRPr b="0" i="0" sz="12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10" name="Google Shape;110;g3edb511d762_1_101"/>
          <p:cNvSpPr/>
          <p:nvPr/>
        </p:nvSpPr>
        <p:spPr>
          <a:xfrm>
            <a:off x="3623687" y="2936356"/>
            <a:ext cx="22014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44535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535A"/>
                </a:solidFill>
                <a:latin typeface="Space Grotesk"/>
                <a:ea typeface="Space Grotesk"/>
                <a:cs typeface="Space Grotesk"/>
                <a:sym typeface="Space Grotesk"/>
              </a:rPr>
              <a:t>Garantir que os dados patrimoniais migrados mantenham consistência e qualidade no SIADS.</a:t>
            </a:r>
            <a:endParaRPr b="0" i="0" sz="9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11" name="Google Shape;111;g3edb511d762_1_101"/>
          <p:cNvSpPr/>
          <p:nvPr/>
        </p:nvSpPr>
        <p:spPr>
          <a:xfrm>
            <a:off x="6257159" y="1825360"/>
            <a:ext cx="2640300" cy="1748700"/>
          </a:xfrm>
          <a:prstGeom prst="roundRect">
            <a:avLst>
              <a:gd fmla="val 3137" name="adj"/>
            </a:avLst>
          </a:prstGeom>
          <a:solidFill>
            <a:srgbClr val="FFFFFF"/>
          </a:solidFill>
          <a:ln>
            <a:noFill/>
          </a:ln>
          <a:effectLst>
            <a:outerShdw blurRad="127000" rotWithShape="0" algn="bl" dir="5400000" dist="38100">
              <a:srgbClr val="0B2E33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12" name="Google Shape;112;g3edb511d762_1_101"/>
          <p:cNvSpPr/>
          <p:nvPr/>
        </p:nvSpPr>
        <p:spPr>
          <a:xfrm>
            <a:off x="6476615" y="2044816"/>
            <a:ext cx="425100" cy="425100"/>
          </a:xfrm>
          <a:prstGeom prst="ellipse">
            <a:avLst/>
          </a:prstGeom>
          <a:solidFill>
            <a:srgbClr val="E7F7E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13" name="Google Shape;113;g3edb511d762_1_10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72627" y="2140828"/>
            <a:ext cx="233172" cy="233172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g3edb511d762_1_101"/>
          <p:cNvSpPr/>
          <p:nvPr/>
        </p:nvSpPr>
        <p:spPr>
          <a:xfrm>
            <a:off x="6476615" y="2566024"/>
            <a:ext cx="22014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B2E33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0B2E33"/>
                </a:solidFill>
                <a:latin typeface="Space Grotesk"/>
                <a:ea typeface="Space Grotesk"/>
                <a:cs typeface="Space Grotesk"/>
                <a:sym typeface="Space Grotesk"/>
              </a:rPr>
              <a:t>Modelo replicável</a:t>
            </a:r>
            <a:endParaRPr b="0" i="0" sz="12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15" name="Google Shape;115;g3edb511d762_1_101"/>
          <p:cNvSpPr/>
          <p:nvPr/>
        </p:nvSpPr>
        <p:spPr>
          <a:xfrm>
            <a:off x="6476615" y="2936356"/>
            <a:ext cx="22014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44535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535A"/>
                </a:solidFill>
                <a:latin typeface="Space Grotesk"/>
                <a:ea typeface="Space Grotesk"/>
                <a:cs typeface="Space Grotesk"/>
                <a:sym typeface="Space Grotesk"/>
              </a:rPr>
              <a:t>Estabelecer um padrão de integração que outras instituições federais de ensino possam reaplicar.</a:t>
            </a:r>
            <a:endParaRPr b="0" i="0" sz="9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116" name="Google Shape;116;g3edb511d762_1_10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470136" y="0"/>
            <a:ext cx="1673861" cy="49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edb511d762_1_131"/>
          <p:cNvSpPr/>
          <p:nvPr/>
        </p:nvSpPr>
        <p:spPr>
          <a:xfrm rot="-5400000">
            <a:off x="-422500" y="900750"/>
            <a:ext cx="20193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193"/>
              <a:buFont typeface="Space Grotesk"/>
              <a:buNone/>
            </a:pPr>
            <a:r>
              <a:rPr b="1" i="0" lang="en-US" sz="1193" u="none" cap="none" strike="noStrike">
                <a:solidFill>
                  <a:srgbClr val="0B2E33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PROCESSO BPMN </a:t>
            </a:r>
            <a:r>
              <a:rPr b="1" lang="en-US" sz="1193">
                <a:solidFill>
                  <a:srgbClr val="0B2E33"/>
                </a:solidFill>
                <a:latin typeface="Space Grotesk"/>
                <a:ea typeface="Space Grotesk"/>
                <a:cs typeface="Space Grotesk"/>
                <a:sym typeface="Space Grotesk"/>
              </a:rPr>
              <a:t>TO-BE</a:t>
            </a:r>
            <a:endParaRPr b="0" i="0" sz="1193" u="none" cap="none" strike="noStrike">
              <a:solidFill>
                <a:srgbClr val="0B2E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g3edb511d762_1_131"/>
          <p:cNvPicPr preferRelativeResize="0"/>
          <p:nvPr/>
        </p:nvPicPr>
        <p:blipFill rotWithShape="1">
          <a:blip r:embed="rId3">
            <a:alphaModFix/>
          </a:blip>
          <a:srcRect b="9658" l="0" r="0" t="0"/>
          <a:stretch/>
        </p:blipFill>
        <p:spPr>
          <a:xfrm>
            <a:off x="1767425" y="105942"/>
            <a:ext cx="6573900" cy="4921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g3edb511d762_1_1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" y="4737575"/>
            <a:ext cx="1360599" cy="40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edb511d762_1_138"/>
          <p:cNvSpPr txBox="1"/>
          <p:nvPr/>
        </p:nvSpPr>
        <p:spPr>
          <a:xfrm>
            <a:off x="714375" y="301625"/>
            <a:ext cx="771525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B2E33"/>
                </a:solidFill>
                <a:latin typeface="Space Grotesk"/>
                <a:ea typeface="Space Grotesk"/>
                <a:cs typeface="Space Grotesk"/>
                <a:sym typeface="Space Grotesk"/>
              </a:rPr>
              <a:t>Entendimento do Gargalo</a:t>
            </a:r>
            <a:endParaRPr b="0" i="0" sz="3000" u="none" cap="none" strike="noStrike">
              <a:solidFill>
                <a:srgbClr val="0B2E33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131" name="Google Shape;131;g3edb511d762_1_1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34950" y="941925"/>
            <a:ext cx="5640551" cy="4008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g3edb511d762_1_1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70136" y="0"/>
            <a:ext cx="1673861" cy="49937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3edb511d762_1_138"/>
          <p:cNvSpPr/>
          <p:nvPr/>
        </p:nvSpPr>
        <p:spPr>
          <a:xfrm rot="-5400000">
            <a:off x="-695900" y="3831450"/>
            <a:ext cx="20193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193"/>
              <a:buFont typeface="Space Grotesk"/>
              <a:buNone/>
            </a:pPr>
            <a:r>
              <a:rPr b="1" i="0" lang="en-US" sz="1193" u="none" cap="none" strike="noStrike">
                <a:solidFill>
                  <a:srgbClr val="0B2E33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PROCESSO BPMN </a:t>
            </a:r>
            <a:r>
              <a:rPr b="1" lang="en-US" sz="1193">
                <a:solidFill>
                  <a:srgbClr val="0B2E33"/>
                </a:solidFill>
                <a:latin typeface="Space Grotesk"/>
                <a:ea typeface="Space Grotesk"/>
                <a:cs typeface="Space Grotesk"/>
                <a:sym typeface="Space Grotesk"/>
              </a:rPr>
              <a:t>TO-BE</a:t>
            </a:r>
            <a:endParaRPr b="1" sz="1193">
              <a:solidFill>
                <a:srgbClr val="0B2E33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193"/>
              <a:buFont typeface="Space Grotesk"/>
              <a:buNone/>
            </a:pPr>
            <a:r>
              <a:t/>
            </a:r>
            <a:endParaRPr b="1" sz="1193">
              <a:solidFill>
                <a:srgbClr val="0B2E33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edb511d762_1_145"/>
          <p:cNvSpPr txBox="1"/>
          <p:nvPr/>
        </p:nvSpPr>
        <p:spPr>
          <a:xfrm>
            <a:off x="714375" y="301625"/>
            <a:ext cx="771525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B2E33"/>
                </a:solidFill>
                <a:latin typeface="Space Grotesk"/>
                <a:ea typeface="Space Grotesk"/>
                <a:cs typeface="Space Grotesk"/>
                <a:sym typeface="Space Grotesk"/>
              </a:rPr>
              <a:t>Entendimento da Demanda</a:t>
            </a:r>
            <a:endParaRPr b="0" i="0" sz="3000" u="none" cap="none" strike="noStrike">
              <a:solidFill>
                <a:srgbClr val="0B2E33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140" name="Google Shape;140;g3edb511d762_1_1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4638" y="1250000"/>
            <a:ext cx="7034724" cy="355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g3edb511d762_1_1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70136" y="0"/>
            <a:ext cx="1673861" cy="49937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g3edb511d762_1_145"/>
          <p:cNvSpPr/>
          <p:nvPr/>
        </p:nvSpPr>
        <p:spPr>
          <a:xfrm rot="-5400000">
            <a:off x="-632400" y="3596775"/>
            <a:ext cx="20193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193"/>
              <a:buFont typeface="Space Grotesk"/>
              <a:buNone/>
            </a:pPr>
            <a:r>
              <a:rPr b="1" i="0" lang="en-US" sz="1193" u="none" cap="none" strike="noStrike">
                <a:solidFill>
                  <a:srgbClr val="0B2E33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PROCESSO BPMN </a:t>
            </a:r>
            <a:r>
              <a:rPr b="1" lang="en-US" sz="1193">
                <a:solidFill>
                  <a:srgbClr val="0B2E33"/>
                </a:solidFill>
                <a:latin typeface="Space Grotesk"/>
                <a:ea typeface="Space Grotesk"/>
                <a:cs typeface="Space Grotesk"/>
                <a:sym typeface="Space Grotesk"/>
              </a:rPr>
              <a:t>TO-BE</a:t>
            </a:r>
            <a:endParaRPr b="0" i="0" sz="1193" u="none" cap="none" strike="noStrike">
              <a:solidFill>
                <a:srgbClr val="0B2E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edb511d762_1_152"/>
          <p:cNvSpPr txBox="1"/>
          <p:nvPr/>
        </p:nvSpPr>
        <p:spPr>
          <a:xfrm>
            <a:off x="714375" y="301625"/>
            <a:ext cx="5424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B2E33"/>
                </a:solidFill>
                <a:latin typeface="Space Grotesk"/>
                <a:ea typeface="Space Grotesk"/>
                <a:cs typeface="Space Grotesk"/>
                <a:sym typeface="Space Grotesk"/>
              </a:rPr>
              <a:t>Fluxo de Busca Proposto</a:t>
            </a:r>
            <a:endParaRPr b="0" i="0" sz="3000" u="none" cap="none" strike="noStrike">
              <a:solidFill>
                <a:srgbClr val="0B2E33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149" name="Google Shape;149;g3edb511d762_1_1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5500" y="1043375"/>
            <a:ext cx="8089252" cy="3726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g3edb511d762_1_1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70136" y="0"/>
            <a:ext cx="1673861" cy="49937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g3edb511d762_1_152"/>
          <p:cNvSpPr/>
          <p:nvPr/>
        </p:nvSpPr>
        <p:spPr>
          <a:xfrm rot="-5400000">
            <a:off x="-688825" y="3593575"/>
            <a:ext cx="20193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193"/>
              <a:buFont typeface="Space Grotesk"/>
              <a:buNone/>
            </a:pPr>
            <a:r>
              <a:rPr b="1" i="0" lang="en-US" sz="1193" u="none" cap="none" strike="noStrike">
                <a:solidFill>
                  <a:srgbClr val="0B2E33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PROCESSO BPMN </a:t>
            </a:r>
            <a:r>
              <a:rPr b="1" lang="en-US" sz="1193">
                <a:solidFill>
                  <a:srgbClr val="0B2E33"/>
                </a:solidFill>
                <a:latin typeface="Space Grotesk"/>
                <a:ea typeface="Space Grotesk"/>
                <a:cs typeface="Space Grotesk"/>
                <a:sym typeface="Space Grotesk"/>
              </a:rPr>
              <a:t>TO-BE</a:t>
            </a:r>
            <a:endParaRPr b="0" i="0" sz="1193" u="none" cap="none" strike="noStrike">
              <a:solidFill>
                <a:srgbClr val="0B2E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g3edb511d762_1_159"/>
          <p:cNvPicPr preferRelativeResize="0"/>
          <p:nvPr/>
        </p:nvPicPr>
        <p:blipFill rotWithShape="1">
          <a:blip r:embed="rId3">
            <a:alphaModFix/>
          </a:blip>
          <a:srcRect b="8867" l="0" r="0" t="0"/>
          <a:stretch/>
        </p:blipFill>
        <p:spPr>
          <a:xfrm>
            <a:off x="382775" y="1409375"/>
            <a:ext cx="8676552" cy="301447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g3edb511d762_1_159"/>
          <p:cNvSpPr txBox="1"/>
          <p:nvPr/>
        </p:nvSpPr>
        <p:spPr>
          <a:xfrm>
            <a:off x="714375" y="301625"/>
            <a:ext cx="5424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B2E33"/>
                </a:solidFill>
                <a:latin typeface="Space Grotesk"/>
                <a:ea typeface="Space Grotesk"/>
                <a:cs typeface="Space Grotesk"/>
                <a:sym typeface="Space Grotesk"/>
              </a:rPr>
              <a:t>Solução</a:t>
            </a:r>
            <a:endParaRPr b="0" i="0" sz="3000" u="none" cap="none" strike="noStrike">
              <a:solidFill>
                <a:srgbClr val="0B2E33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159" name="Google Shape;159;g3edb511d762_1_1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70136" y="0"/>
            <a:ext cx="1673861" cy="49937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g3edb511d762_1_159"/>
          <p:cNvSpPr/>
          <p:nvPr/>
        </p:nvSpPr>
        <p:spPr>
          <a:xfrm rot="-5400000">
            <a:off x="-746350" y="3614300"/>
            <a:ext cx="20193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193"/>
              <a:buFont typeface="Space Grotesk"/>
              <a:buNone/>
            </a:pPr>
            <a:r>
              <a:rPr b="1" i="0" lang="en-US" sz="1193" u="none" cap="none" strike="noStrike">
                <a:solidFill>
                  <a:srgbClr val="0B2E33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PROCESSO BMN </a:t>
            </a:r>
            <a:r>
              <a:rPr b="1" lang="en-US" sz="1193">
                <a:solidFill>
                  <a:srgbClr val="0B2E33"/>
                </a:solidFill>
                <a:latin typeface="Space Grotesk"/>
                <a:ea typeface="Space Grotesk"/>
                <a:cs typeface="Space Grotesk"/>
                <a:sym typeface="Space Grotesk"/>
              </a:rPr>
              <a:t>TO-BE</a:t>
            </a:r>
            <a:endParaRPr b="0" i="0" sz="1193" u="none" cap="none" strike="noStrike">
              <a:solidFill>
                <a:srgbClr val="0B2E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edb511d762_2_41"/>
          <p:cNvSpPr/>
          <p:nvPr/>
        </p:nvSpPr>
        <p:spPr>
          <a:xfrm>
            <a:off x="480175" y="1527150"/>
            <a:ext cx="3487200" cy="2117700"/>
          </a:xfrm>
          <a:prstGeom prst="roundRect">
            <a:avLst>
              <a:gd fmla="val 3137" name="adj"/>
            </a:avLst>
          </a:prstGeom>
          <a:solidFill>
            <a:srgbClr val="0B2E33"/>
          </a:solidFill>
          <a:ln>
            <a:noFill/>
          </a:ln>
          <a:effectLst>
            <a:outerShdw blurRad="127000" rotWithShape="0" algn="bl" dir="5400000" dist="38100">
              <a:srgbClr val="0B2E33">
                <a:alpha val="121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167" name="Google Shape;167;g3edb511d762_2_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8450" y="2027975"/>
            <a:ext cx="1222200" cy="120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g3edb511d762_2_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8125" y="2027972"/>
            <a:ext cx="1222198" cy="1087566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g3edb511d762_2_41"/>
          <p:cNvSpPr txBox="1"/>
          <p:nvPr/>
        </p:nvSpPr>
        <p:spPr>
          <a:xfrm>
            <a:off x="1220125" y="3710200"/>
            <a:ext cx="2007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E5E66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 + VITE</a:t>
            </a:r>
            <a:endParaRPr sz="2200">
              <a:solidFill>
                <a:srgbClr val="0E5E66"/>
              </a:solidFill>
            </a:endParaRPr>
          </a:p>
        </p:txBody>
      </p:sp>
      <p:sp>
        <p:nvSpPr>
          <p:cNvPr id="170" name="Google Shape;170;g3edb511d762_2_41"/>
          <p:cNvSpPr/>
          <p:nvPr/>
        </p:nvSpPr>
        <p:spPr>
          <a:xfrm>
            <a:off x="4859775" y="1527150"/>
            <a:ext cx="3487200" cy="2117700"/>
          </a:xfrm>
          <a:prstGeom prst="roundRect">
            <a:avLst>
              <a:gd fmla="val 3137" name="adj"/>
            </a:avLst>
          </a:prstGeom>
          <a:solidFill>
            <a:srgbClr val="0B2E33"/>
          </a:solidFill>
          <a:ln>
            <a:noFill/>
          </a:ln>
          <a:effectLst>
            <a:outerShdw blurRad="127000" rotWithShape="0" algn="bl" dir="5400000" dist="38100">
              <a:srgbClr val="0B2E33">
                <a:alpha val="121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71" name="Google Shape;171;g3edb511d762_2_41"/>
          <p:cNvSpPr txBox="1"/>
          <p:nvPr/>
        </p:nvSpPr>
        <p:spPr>
          <a:xfrm>
            <a:off x="4904200" y="3710200"/>
            <a:ext cx="3321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E5E66"/>
                </a:solidFill>
                <a:latin typeface="Space Grotesk"/>
                <a:ea typeface="Space Grotesk"/>
                <a:cs typeface="Space Grotesk"/>
                <a:sym typeface="Space Grotesk"/>
              </a:rPr>
              <a:t>NESTJS</a:t>
            </a:r>
            <a:r>
              <a:rPr b="1" lang="en-US" sz="2200">
                <a:solidFill>
                  <a:srgbClr val="0E5E66"/>
                </a:solidFill>
                <a:latin typeface="Space Grotesk"/>
                <a:ea typeface="Space Grotesk"/>
                <a:cs typeface="Space Grotesk"/>
                <a:sym typeface="Space Grotesk"/>
              </a:rPr>
              <a:t>+ MONGO DB</a:t>
            </a:r>
            <a:endParaRPr sz="2200">
              <a:solidFill>
                <a:srgbClr val="0E5E66"/>
              </a:solidFill>
            </a:endParaRPr>
          </a:p>
        </p:txBody>
      </p:sp>
      <p:pic>
        <p:nvPicPr>
          <p:cNvPr id="172" name="Google Shape;172;g3edb511d762_2_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22518" y="1969599"/>
            <a:ext cx="2867358" cy="120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g3edb511d762_2_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66300" y="1571275"/>
            <a:ext cx="2117700" cy="211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g3edb511d762_2_41"/>
          <p:cNvSpPr txBox="1"/>
          <p:nvPr/>
        </p:nvSpPr>
        <p:spPr>
          <a:xfrm>
            <a:off x="468493" y="226775"/>
            <a:ext cx="697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0B2E33"/>
                </a:solidFill>
                <a:latin typeface="Space Grotesk"/>
                <a:ea typeface="Space Grotesk"/>
                <a:cs typeface="Space Grotesk"/>
                <a:sym typeface="Space Grotesk"/>
              </a:rPr>
              <a:t>Stack Envolvidas</a:t>
            </a:r>
            <a:endParaRPr b="0" i="0" sz="3000" u="none" cap="none" strike="noStrike">
              <a:solidFill>
                <a:srgbClr val="0B2E33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edb511d762_1_12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2E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edb511d762_1_125"/>
          <p:cNvSpPr/>
          <p:nvPr/>
        </p:nvSpPr>
        <p:spPr>
          <a:xfrm>
            <a:off x="1378000" y="2050000"/>
            <a:ext cx="6387900" cy="11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7FE0B0"/>
                </a:solidFill>
                <a:latin typeface="Calibri"/>
                <a:ea typeface="Calibri"/>
                <a:cs typeface="Calibri"/>
                <a:sym typeface="Calibri"/>
              </a:rPr>
              <a:t>VALIDAÇÃO PRÁTICA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DEMONSTRAÇÃO</a:t>
            </a:r>
            <a:endParaRPr b="0" i="0" sz="4000" u="none" cap="none" strike="noStrike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193"/>
              <a:buFont typeface="Space Grotesk"/>
              <a:buNone/>
            </a:pPr>
            <a:r>
              <a:t/>
            </a:r>
            <a:endParaRPr b="1" i="0" sz="3000" u="none" cap="none" strike="noStrike">
              <a:solidFill>
                <a:srgbClr val="3B82F6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ef0887e4c6_0_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2E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ef0887e4c6_0_4"/>
          <p:cNvSpPr/>
          <p:nvPr/>
        </p:nvSpPr>
        <p:spPr>
          <a:xfrm>
            <a:off x="724950" y="2021700"/>
            <a:ext cx="7694100" cy="11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mbria"/>
              <a:buNone/>
            </a:pPr>
            <a:r>
              <a:rPr b="1" lang="en-US" sz="4000" u="sng">
                <a:solidFill>
                  <a:schemeClr val="hlink"/>
                </a:solidFill>
                <a:latin typeface="Space Grotesk"/>
                <a:ea typeface="Space Grotesk"/>
                <a:cs typeface="Space Grotesk"/>
                <a:sym typeface="Space Grotesk"/>
                <a:hlinkClick r:id="rId3"/>
              </a:rPr>
              <a:t>https://youtu.be/T5o1rRgwNyI</a:t>
            </a:r>
            <a:endParaRPr b="1" sz="40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mbria"/>
              <a:buNone/>
            </a:pPr>
            <a:r>
              <a:t/>
            </a:r>
            <a:endParaRPr b="1" sz="40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193"/>
              <a:buFont typeface="Space Grotesk"/>
              <a:buNone/>
            </a:pPr>
            <a:r>
              <a:t/>
            </a:r>
            <a:endParaRPr b="1" i="0" sz="3000" u="none" cap="none" strike="noStrike">
              <a:solidFill>
                <a:srgbClr val="3B82F6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eda14830af_14_63"/>
          <p:cNvSpPr txBox="1"/>
          <p:nvPr/>
        </p:nvSpPr>
        <p:spPr>
          <a:xfrm>
            <a:off x="312908" y="301625"/>
            <a:ext cx="5424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B2E33"/>
                </a:solidFill>
                <a:latin typeface="Space Grotesk"/>
                <a:ea typeface="Space Grotesk"/>
                <a:cs typeface="Space Grotesk"/>
                <a:sym typeface="Space Grotesk"/>
              </a:rPr>
              <a:t>Artefatos Gerados</a:t>
            </a:r>
            <a:endParaRPr sz="3000">
              <a:solidFill>
                <a:srgbClr val="0B2E33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195" name="Google Shape;195;g3eda14830af_14_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70136" y="0"/>
            <a:ext cx="1673861" cy="49937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g3eda14830af_14_63"/>
          <p:cNvSpPr/>
          <p:nvPr/>
        </p:nvSpPr>
        <p:spPr>
          <a:xfrm>
            <a:off x="425075" y="1196525"/>
            <a:ext cx="2566200" cy="3266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eda14830af_14_63"/>
          <p:cNvSpPr/>
          <p:nvPr/>
        </p:nvSpPr>
        <p:spPr>
          <a:xfrm>
            <a:off x="425075" y="4530750"/>
            <a:ext cx="256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0E7C7B"/>
                </a:solidFill>
                <a:latin typeface="Space Grotesk"/>
                <a:ea typeface="Space Grotesk"/>
                <a:cs typeface="Space Grotesk"/>
                <a:sym typeface="Space Grotesk"/>
              </a:rPr>
              <a:t>Documento de Requisitos (Atualização)</a:t>
            </a:r>
            <a:endParaRPr b="0" i="0" sz="9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98" name="Google Shape;198;g3eda14830af_14_63"/>
          <p:cNvSpPr/>
          <p:nvPr/>
        </p:nvSpPr>
        <p:spPr>
          <a:xfrm>
            <a:off x="3288900" y="1196525"/>
            <a:ext cx="4616100" cy="3266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eda14830af_14_63"/>
          <p:cNvSpPr/>
          <p:nvPr/>
        </p:nvSpPr>
        <p:spPr>
          <a:xfrm>
            <a:off x="3288898" y="4530750"/>
            <a:ext cx="461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0E7C7B"/>
                </a:solidFill>
                <a:latin typeface="Space Grotesk"/>
                <a:ea typeface="Space Grotesk"/>
                <a:cs typeface="Space Grotesk"/>
                <a:sym typeface="Space Grotesk"/>
              </a:rPr>
              <a:t>Manual de Instalação</a:t>
            </a:r>
            <a:endParaRPr b="0" i="0" sz="9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200" name="Google Shape;200;g3eda14830af_14_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98412" y="1497700"/>
            <a:ext cx="3597074" cy="2367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g3eda14830af_14_6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8763" y="1378075"/>
            <a:ext cx="2318826" cy="290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edc64a3003_1_1"/>
          <p:cNvSpPr txBox="1"/>
          <p:nvPr/>
        </p:nvSpPr>
        <p:spPr>
          <a:xfrm>
            <a:off x="312908" y="301625"/>
            <a:ext cx="5424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B2E33"/>
                </a:solidFill>
                <a:latin typeface="Space Grotesk"/>
                <a:ea typeface="Space Grotesk"/>
                <a:cs typeface="Space Grotesk"/>
                <a:sym typeface="Space Grotesk"/>
              </a:rPr>
              <a:t>Artefatos Gerados</a:t>
            </a:r>
            <a:endParaRPr sz="3000">
              <a:solidFill>
                <a:srgbClr val="0B2E33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208" name="Google Shape;208;g3edc64a3003_1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70136" y="0"/>
            <a:ext cx="1673861" cy="49937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g3edc64a3003_1_1"/>
          <p:cNvSpPr/>
          <p:nvPr/>
        </p:nvSpPr>
        <p:spPr>
          <a:xfrm>
            <a:off x="230617" y="1045650"/>
            <a:ext cx="3291900" cy="3266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edc64a3003_1_1"/>
          <p:cNvSpPr/>
          <p:nvPr/>
        </p:nvSpPr>
        <p:spPr>
          <a:xfrm>
            <a:off x="497420" y="4379875"/>
            <a:ext cx="256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0E7C7B"/>
                </a:solidFill>
                <a:latin typeface="Space Grotesk"/>
                <a:ea typeface="Space Grotesk"/>
                <a:cs typeface="Space Grotesk"/>
                <a:sym typeface="Space Grotesk"/>
              </a:rPr>
              <a:t>Política de Privacidade</a:t>
            </a:r>
            <a:endParaRPr sz="9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900"/>
              <a:buFont typeface="Calibri"/>
              <a:buNone/>
            </a:pPr>
            <a:r>
              <a:t/>
            </a:r>
            <a:endParaRPr b="1" sz="900">
              <a:solidFill>
                <a:srgbClr val="0E7C7B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211" name="Google Shape;211;g3edc64a3003_1_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6792" y="1214150"/>
            <a:ext cx="2984101" cy="2626009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g3edc64a3003_1_1"/>
          <p:cNvSpPr/>
          <p:nvPr/>
        </p:nvSpPr>
        <p:spPr>
          <a:xfrm>
            <a:off x="3793075" y="1045650"/>
            <a:ext cx="5258700" cy="3266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3" name="Google Shape;213;g3edc64a3003_1_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53238" y="1214150"/>
            <a:ext cx="5138375" cy="2393833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g3edc64a3003_1_1"/>
          <p:cNvSpPr/>
          <p:nvPr/>
        </p:nvSpPr>
        <p:spPr>
          <a:xfrm>
            <a:off x="5139320" y="4409875"/>
            <a:ext cx="256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0E7C7B"/>
                </a:solidFill>
                <a:latin typeface="Space Grotesk"/>
                <a:ea typeface="Space Grotesk"/>
                <a:cs typeface="Space Grotesk"/>
                <a:sym typeface="Space Grotesk"/>
              </a:rPr>
              <a:t>Código do Sistema</a:t>
            </a:r>
            <a:endParaRPr sz="9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900"/>
              <a:buFont typeface="Calibri"/>
              <a:buNone/>
            </a:pPr>
            <a:r>
              <a:t/>
            </a:r>
            <a:endParaRPr b="1" sz="900">
              <a:solidFill>
                <a:srgbClr val="0E7C7B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edb511d762_1_166"/>
          <p:cNvSpPr/>
          <p:nvPr/>
        </p:nvSpPr>
        <p:spPr>
          <a:xfrm>
            <a:off x="411480" y="74889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0E7C7B"/>
                </a:solidFill>
                <a:latin typeface="Space Grotesk"/>
                <a:ea typeface="Space Grotesk"/>
                <a:cs typeface="Space Grotesk"/>
                <a:sym typeface="Space Grotesk"/>
              </a:rPr>
              <a:t>ESTRUTURA</a:t>
            </a:r>
            <a:r>
              <a:rPr b="1" lang="en-US" sz="900">
                <a:solidFill>
                  <a:srgbClr val="0E7C7B"/>
                </a:solidFill>
                <a:latin typeface="Space Grotesk"/>
                <a:ea typeface="Space Grotesk"/>
                <a:cs typeface="Space Grotesk"/>
                <a:sym typeface="Space Grotesk"/>
              </a:rPr>
              <a:t> DO DOCUMENTO</a:t>
            </a:r>
            <a:endParaRPr b="0" i="0" sz="9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21" name="Google Shape;221;g3edb511d762_1_166"/>
          <p:cNvSpPr/>
          <p:nvPr/>
        </p:nvSpPr>
        <p:spPr>
          <a:xfrm>
            <a:off x="411480" y="386132"/>
            <a:ext cx="78867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E33"/>
              </a:buClr>
              <a:buSzPts val="2000"/>
              <a:buFont typeface="Cambria"/>
              <a:buNone/>
            </a:pPr>
            <a:r>
              <a:rPr b="1" lang="en-US" sz="2000">
                <a:solidFill>
                  <a:srgbClr val="0B2E33"/>
                </a:solidFill>
                <a:latin typeface="Space Grotesk"/>
                <a:ea typeface="Space Grotesk"/>
                <a:cs typeface="Space Grotesk"/>
                <a:sym typeface="Space Grotesk"/>
              </a:rPr>
              <a:t>POLÍTICA DE PRIVACIDADE</a:t>
            </a:r>
            <a:endParaRPr b="0" i="0" sz="20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22" name="Google Shape;222;g3edb511d762_1_166"/>
          <p:cNvSpPr/>
          <p:nvPr/>
        </p:nvSpPr>
        <p:spPr>
          <a:xfrm>
            <a:off x="411480" y="1474470"/>
            <a:ext cx="2036826" cy="2434590"/>
          </a:xfrm>
          <a:prstGeom prst="roundRect">
            <a:avLst>
              <a:gd fmla="val 2357" name="adj"/>
            </a:avLst>
          </a:prstGeom>
          <a:solidFill>
            <a:srgbClr val="F7FAFA"/>
          </a:solidFill>
          <a:ln>
            <a:noFill/>
          </a:ln>
          <a:effectLst>
            <a:outerShdw blurRad="127000" rotWithShape="0" algn="bl" dir="5400000" dist="38100">
              <a:srgbClr val="0B2E33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g3edb511d762_1_166"/>
          <p:cNvSpPr/>
          <p:nvPr/>
        </p:nvSpPr>
        <p:spPr>
          <a:xfrm>
            <a:off x="411480" y="1474470"/>
            <a:ext cx="2036826" cy="720090"/>
          </a:xfrm>
          <a:prstGeom prst="roundRect">
            <a:avLst>
              <a:gd fmla="val 6667" name="adj"/>
            </a:avLst>
          </a:prstGeom>
          <a:solidFill>
            <a:srgbClr val="E6F2F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g3edb511d762_1_166"/>
          <p:cNvSpPr/>
          <p:nvPr/>
        </p:nvSpPr>
        <p:spPr>
          <a:xfrm>
            <a:off x="411480" y="2057400"/>
            <a:ext cx="2036826" cy="137160"/>
          </a:xfrm>
          <a:prstGeom prst="rect">
            <a:avLst/>
          </a:prstGeom>
          <a:solidFill>
            <a:srgbClr val="E6F2F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25" name="Google Shape;225;g3edb511d762_1_1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9788" y="1639062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g3edb511d762_1_166"/>
          <p:cNvSpPr/>
          <p:nvPr/>
        </p:nvSpPr>
        <p:spPr>
          <a:xfrm>
            <a:off x="589788" y="2283714"/>
            <a:ext cx="1693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B2E33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0B2E33"/>
                </a:solidFill>
                <a:latin typeface="Space Grotesk"/>
                <a:ea typeface="Space Grotesk"/>
                <a:cs typeface="Space Grotesk"/>
                <a:sym typeface="Space Grotesk"/>
              </a:rPr>
              <a:t>Coleta e finalidade</a:t>
            </a:r>
            <a:endParaRPr b="0" i="0" sz="11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27" name="Google Shape;227;g3edb511d762_1_166"/>
          <p:cNvSpPr/>
          <p:nvPr/>
        </p:nvSpPr>
        <p:spPr>
          <a:xfrm>
            <a:off x="589788" y="2770632"/>
            <a:ext cx="61722" cy="61722"/>
          </a:xfrm>
          <a:prstGeom prst="ellipse">
            <a:avLst/>
          </a:prstGeom>
          <a:solidFill>
            <a:srgbClr val="0E5E6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g3edb511d762_1_166"/>
          <p:cNvSpPr/>
          <p:nvPr/>
        </p:nvSpPr>
        <p:spPr>
          <a:xfrm>
            <a:off x="589788" y="3086100"/>
            <a:ext cx="61722" cy="61722"/>
          </a:xfrm>
          <a:prstGeom prst="ellipse">
            <a:avLst/>
          </a:prstGeom>
          <a:solidFill>
            <a:srgbClr val="0E5E6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g3edb511d762_1_166"/>
          <p:cNvSpPr/>
          <p:nvPr/>
        </p:nvSpPr>
        <p:spPr>
          <a:xfrm>
            <a:off x="2558034" y="1474470"/>
            <a:ext cx="2036826" cy="2434590"/>
          </a:xfrm>
          <a:prstGeom prst="roundRect">
            <a:avLst>
              <a:gd fmla="val 2357" name="adj"/>
            </a:avLst>
          </a:prstGeom>
          <a:solidFill>
            <a:srgbClr val="F7FAFA"/>
          </a:solidFill>
          <a:ln>
            <a:noFill/>
          </a:ln>
          <a:effectLst>
            <a:outerShdw blurRad="127000" rotWithShape="0" algn="bl" dir="5400000" dist="38100">
              <a:srgbClr val="0B2E33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g3edb511d762_1_166"/>
          <p:cNvSpPr/>
          <p:nvPr/>
        </p:nvSpPr>
        <p:spPr>
          <a:xfrm>
            <a:off x="726948" y="3063543"/>
            <a:ext cx="1556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4535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4535A"/>
                </a:solidFill>
                <a:latin typeface="Space Grotesk"/>
                <a:ea typeface="Space Grotesk"/>
                <a:cs typeface="Space Grotesk"/>
                <a:sym typeface="Space Grotesk"/>
              </a:rPr>
              <a:t>2. Como coletamos seus dados</a:t>
            </a:r>
            <a:endParaRPr b="0" i="0" sz="8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31" name="Google Shape;231;g3edb511d762_1_166"/>
          <p:cNvSpPr/>
          <p:nvPr/>
        </p:nvSpPr>
        <p:spPr>
          <a:xfrm>
            <a:off x="2558034" y="1474470"/>
            <a:ext cx="2036826" cy="720090"/>
          </a:xfrm>
          <a:prstGeom prst="roundRect">
            <a:avLst>
              <a:gd fmla="val 6667" name="adj"/>
            </a:avLst>
          </a:prstGeom>
          <a:solidFill>
            <a:srgbClr val="E6F2F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g3edb511d762_1_166"/>
          <p:cNvSpPr/>
          <p:nvPr/>
        </p:nvSpPr>
        <p:spPr>
          <a:xfrm>
            <a:off x="2558034" y="2057400"/>
            <a:ext cx="2036826" cy="137160"/>
          </a:xfrm>
          <a:prstGeom prst="rect">
            <a:avLst/>
          </a:prstGeom>
          <a:solidFill>
            <a:srgbClr val="E6F2F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33" name="Google Shape;233;g3edb511d762_1_1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36342" y="1639062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g3edb511d762_1_166"/>
          <p:cNvSpPr/>
          <p:nvPr/>
        </p:nvSpPr>
        <p:spPr>
          <a:xfrm>
            <a:off x="2736342" y="2770632"/>
            <a:ext cx="61722" cy="61722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g3edb511d762_1_166"/>
          <p:cNvSpPr/>
          <p:nvPr/>
        </p:nvSpPr>
        <p:spPr>
          <a:xfrm>
            <a:off x="2736342" y="2283714"/>
            <a:ext cx="1693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B2E33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0B2E33"/>
                </a:solidFill>
                <a:latin typeface="Space Grotesk"/>
                <a:ea typeface="Space Grotesk"/>
                <a:cs typeface="Space Grotesk"/>
                <a:sym typeface="Space Grotesk"/>
              </a:rPr>
              <a:t>Direitos do titular</a:t>
            </a:r>
            <a:endParaRPr b="0" i="0" sz="11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36" name="Google Shape;236;g3edb511d762_1_166"/>
          <p:cNvSpPr/>
          <p:nvPr/>
        </p:nvSpPr>
        <p:spPr>
          <a:xfrm>
            <a:off x="2736342" y="3086100"/>
            <a:ext cx="61722" cy="61722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g3edb511d762_1_166"/>
          <p:cNvSpPr/>
          <p:nvPr/>
        </p:nvSpPr>
        <p:spPr>
          <a:xfrm>
            <a:off x="2873502" y="2741437"/>
            <a:ext cx="1556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4535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4535A"/>
                </a:solidFill>
                <a:latin typeface="Space Grotesk"/>
                <a:ea typeface="Space Grotesk"/>
                <a:cs typeface="Space Grotesk"/>
                <a:sym typeface="Space Grotesk"/>
              </a:rPr>
              <a:t>3. Seus direitos (Art. 18 LGPD)</a:t>
            </a:r>
            <a:endParaRPr b="0" i="0" sz="8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38" name="Google Shape;238;g3edb511d762_1_166"/>
          <p:cNvSpPr/>
          <p:nvPr/>
        </p:nvSpPr>
        <p:spPr>
          <a:xfrm>
            <a:off x="4704588" y="1474470"/>
            <a:ext cx="2036826" cy="2434590"/>
          </a:xfrm>
          <a:prstGeom prst="roundRect">
            <a:avLst>
              <a:gd fmla="val 2357" name="adj"/>
            </a:avLst>
          </a:prstGeom>
          <a:solidFill>
            <a:srgbClr val="F7FAFA"/>
          </a:solidFill>
          <a:ln>
            <a:noFill/>
          </a:ln>
          <a:effectLst>
            <a:outerShdw blurRad="127000" rotWithShape="0" algn="bl" dir="5400000" dist="38100">
              <a:srgbClr val="0B2E33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g3edb511d762_1_166"/>
          <p:cNvSpPr/>
          <p:nvPr/>
        </p:nvSpPr>
        <p:spPr>
          <a:xfrm>
            <a:off x="2873502" y="3056905"/>
            <a:ext cx="1556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4535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4535A"/>
                </a:solidFill>
                <a:latin typeface="Space Grotesk"/>
                <a:ea typeface="Space Grotesk"/>
                <a:cs typeface="Space Grotesk"/>
                <a:sym typeface="Space Grotesk"/>
              </a:rPr>
              <a:t>4. Como exercer seus direitos</a:t>
            </a:r>
            <a:endParaRPr b="0" i="0" sz="8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40" name="Google Shape;240;g3edb511d762_1_166"/>
          <p:cNvSpPr/>
          <p:nvPr/>
        </p:nvSpPr>
        <p:spPr>
          <a:xfrm>
            <a:off x="4704588" y="1474470"/>
            <a:ext cx="2036826" cy="720090"/>
          </a:xfrm>
          <a:prstGeom prst="roundRect">
            <a:avLst>
              <a:gd fmla="val 6667" name="adj"/>
            </a:avLst>
          </a:prstGeom>
          <a:solidFill>
            <a:srgbClr val="E7F7E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g3edb511d762_1_166"/>
          <p:cNvSpPr/>
          <p:nvPr/>
        </p:nvSpPr>
        <p:spPr>
          <a:xfrm>
            <a:off x="4704588" y="2057400"/>
            <a:ext cx="2036826" cy="137160"/>
          </a:xfrm>
          <a:prstGeom prst="rect">
            <a:avLst/>
          </a:prstGeom>
          <a:solidFill>
            <a:srgbClr val="E7F7E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42" name="Google Shape;242;g3edb511d762_1_16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82896" y="1639062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g3edb511d762_1_166"/>
          <p:cNvSpPr/>
          <p:nvPr/>
        </p:nvSpPr>
        <p:spPr>
          <a:xfrm>
            <a:off x="4882896" y="2770632"/>
            <a:ext cx="61722" cy="61722"/>
          </a:xfrm>
          <a:prstGeom prst="ellipse">
            <a:avLst/>
          </a:prstGeom>
          <a:solidFill>
            <a:srgbClr val="2BAE6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g3edb511d762_1_166"/>
          <p:cNvSpPr/>
          <p:nvPr/>
        </p:nvSpPr>
        <p:spPr>
          <a:xfrm>
            <a:off x="4882896" y="2283714"/>
            <a:ext cx="1693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B2E33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0B2E33"/>
                </a:solidFill>
                <a:latin typeface="Space Grotesk"/>
                <a:ea typeface="Space Grotesk"/>
                <a:cs typeface="Space Grotesk"/>
                <a:sym typeface="Space Grotesk"/>
              </a:rPr>
              <a:t>Retenção e segurança</a:t>
            </a:r>
            <a:endParaRPr b="0" i="0" sz="11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45" name="Google Shape;245;g3edb511d762_1_166"/>
          <p:cNvSpPr/>
          <p:nvPr/>
        </p:nvSpPr>
        <p:spPr>
          <a:xfrm>
            <a:off x="4882896" y="3086100"/>
            <a:ext cx="61722" cy="61722"/>
          </a:xfrm>
          <a:prstGeom prst="ellipse">
            <a:avLst/>
          </a:prstGeom>
          <a:solidFill>
            <a:srgbClr val="2BAE6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g3edb511d762_1_166"/>
          <p:cNvSpPr/>
          <p:nvPr/>
        </p:nvSpPr>
        <p:spPr>
          <a:xfrm>
            <a:off x="5020056" y="2738118"/>
            <a:ext cx="1556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4535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4535A"/>
                </a:solidFill>
                <a:latin typeface="Space Grotesk"/>
                <a:ea typeface="Space Grotesk"/>
                <a:cs typeface="Space Grotesk"/>
                <a:sym typeface="Space Grotesk"/>
              </a:rPr>
              <a:t>5. Armazenamento e tempo de retenção</a:t>
            </a:r>
            <a:endParaRPr b="0" i="0" sz="8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47" name="Google Shape;247;g3edb511d762_1_166"/>
          <p:cNvSpPr/>
          <p:nvPr/>
        </p:nvSpPr>
        <p:spPr>
          <a:xfrm>
            <a:off x="726948" y="2748075"/>
            <a:ext cx="1556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4535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4535A"/>
                </a:solidFill>
                <a:latin typeface="Space Grotesk"/>
                <a:ea typeface="Space Grotesk"/>
                <a:cs typeface="Space Grotesk"/>
                <a:sym typeface="Space Grotesk"/>
              </a:rPr>
              <a:t>1. Dados coletados e finalidade</a:t>
            </a:r>
            <a:endParaRPr b="0" i="0" sz="8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48" name="Google Shape;248;g3edb511d762_1_166"/>
          <p:cNvSpPr/>
          <p:nvPr/>
        </p:nvSpPr>
        <p:spPr>
          <a:xfrm>
            <a:off x="5020056" y="3053586"/>
            <a:ext cx="1556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4535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4535A"/>
                </a:solidFill>
                <a:latin typeface="Space Grotesk"/>
                <a:ea typeface="Space Grotesk"/>
                <a:cs typeface="Space Grotesk"/>
                <a:sym typeface="Space Grotesk"/>
              </a:rPr>
              <a:t>6. Medidas de segurança</a:t>
            </a:r>
            <a:endParaRPr b="0" i="0" sz="8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49" name="Google Shape;249;g3edb511d762_1_166"/>
          <p:cNvSpPr/>
          <p:nvPr/>
        </p:nvSpPr>
        <p:spPr>
          <a:xfrm>
            <a:off x="4882896" y="3401568"/>
            <a:ext cx="61722" cy="61722"/>
          </a:xfrm>
          <a:prstGeom prst="ellipse">
            <a:avLst/>
          </a:prstGeom>
          <a:solidFill>
            <a:srgbClr val="2BAE6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g3edb511d762_1_166"/>
          <p:cNvSpPr/>
          <p:nvPr/>
        </p:nvSpPr>
        <p:spPr>
          <a:xfrm>
            <a:off x="5020056" y="3369054"/>
            <a:ext cx="1556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4535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4535A"/>
                </a:solidFill>
                <a:latin typeface="Space Grotesk"/>
                <a:ea typeface="Space Grotesk"/>
                <a:cs typeface="Space Grotesk"/>
                <a:sym typeface="Space Grotesk"/>
              </a:rPr>
              <a:t>8. Cookies e navegação</a:t>
            </a:r>
            <a:endParaRPr b="0" i="0" sz="8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51" name="Google Shape;251;g3edb511d762_1_166"/>
          <p:cNvSpPr/>
          <p:nvPr/>
        </p:nvSpPr>
        <p:spPr>
          <a:xfrm>
            <a:off x="6851142" y="1474470"/>
            <a:ext cx="2036826" cy="2434590"/>
          </a:xfrm>
          <a:prstGeom prst="roundRect">
            <a:avLst>
              <a:gd fmla="val 2357" name="adj"/>
            </a:avLst>
          </a:prstGeom>
          <a:solidFill>
            <a:srgbClr val="F7FAFA"/>
          </a:solidFill>
          <a:ln>
            <a:noFill/>
          </a:ln>
          <a:effectLst>
            <a:outerShdw blurRad="127000" rotWithShape="0" algn="bl" dir="5400000" dist="38100">
              <a:srgbClr val="0B2E33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g3edb511d762_1_166"/>
          <p:cNvSpPr/>
          <p:nvPr/>
        </p:nvSpPr>
        <p:spPr>
          <a:xfrm>
            <a:off x="6851142" y="1474470"/>
            <a:ext cx="2036826" cy="720090"/>
          </a:xfrm>
          <a:prstGeom prst="roundRect">
            <a:avLst>
              <a:gd fmla="val 6667" name="adj"/>
            </a:avLst>
          </a:prstGeom>
          <a:solidFill>
            <a:srgbClr val="FBEFE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g3edb511d762_1_166"/>
          <p:cNvSpPr/>
          <p:nvPr/>
        </p:nvSpPr>
        <p:spPr>
          <a:xfrm>
            <a:off x="6851142" y="2057400"/>
            <a:ext cx="2036826" cy="137160"/>
          </a:xfrm>
          <a:prstGeom prst="rect">
            <a:avLst/>
          </a:prstGeom>
          <a:solidFill>
            <a:srgbClr val="FBEFE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54" name="Google Shape;254;g3edb511d762_1_16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29450" y="1639062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g3edb511d762_1_166"/>
          <p:cNvSpPr/>
          <p:nvPr/>
        </p:nvSpPr>
        <p:spPr>
          <a:xfrm>
            <a:off x="7029450" y="2283714"/>
            <a:ext cx="1693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B2E33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0B2E33"/>
                </a:solidFill>
                <a:latin typeface="Space Grotesk"/>
                <a:ea typeface="Space Grotesk"/>
                <a:cs typeface="Space Grotesk"/>
                <a:sym typeface="Space Grotesk"/>
              </a:rPr>
              <a:t>Governança e responsabilidade</a:t>
            </a:r>
            <a:endParaRPr b="0" i="0" sz="11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56" name="Google Shape;256;g3edb511d762_1_166"/>
          <p:cNvSpPr/>
          <p:nvPr/>
        </p:nvSpPr>
        <p:spPr>
          <a:xfrm>
            <a:off x="7029450" y="2770632"/>
            <a:ext cx="61722" cy="61722"/>
          </a:xfrm>
          <a:prstGeom prst="ellipse">
            <a:avLst/>
          </a:prstGeom>
          <a:solidFill>
            <a:srgbClr val="C9742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g3edb511d762_1_166"/>
          <p:cNvSpPr/>
          <p:nvPr/>
        </p:nvSpPr>
        <p:spPr>
          <a:xfrm>
            <a:off x="7166610" y="2738118"/>
            <a:ext cx="1556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4535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4535A"/>
                </a:solidFill>
                <a:latin typeface="Space Grotesk"/>
                <a:ea typeface="Space Grotesk"/>
                <a:cs typeface="Space Grotesk"/>
                <a:sym typeface="Space Grotesk"/>
              </a:rPr>
              <a:t>7. Compartilhamento de dados</a:t>
            </a:r>
            <a:endParaRPr b="0" i="0" sz="8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58" name="Google Shape;258;g3edb511d762_1_166"/>
          <p:cNvSpPr/>
          <p:nvPr/>
        </p:nvSpPr>
        <p:spPr>
          <a:xfrm>
            <a:off x="7029450" y="3086100"/>
            <a:ext cx="61722" cy="61722"/>
          </a:xfrm>
          <a:prstGeom prst="ellipse">
            <a:avLst/>
          </a:prstGeom>
          <a:solidFill>
            <a:srgbClr val="C9742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g3edb511d762_1_166"/>
          <p:cNvSpPr/>
          <p:nvPr/>
        </p:nvSpPr>
        <p:spPr>
          <a:xfrm>
            <a:off x="7166610" y="3053586"/>
            <a:ext cx="1556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4535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4535A"/>
                </a:solidFill>
                <a:latin typeface="Space Grotesk"/>
                <a:ea typeface="Space Grotesk"/>
                <a:cs typeface="Space Grotesk"/>
                <a:sym typeface="Space Grotesk"/>
              </a:rPr>
              <a:t>9. Alterações da política</a:t>
            </a:r>
            <a:endParaRPr b="0" i="0" sz="8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60" name="Google Shape;260;g3edb511d762_1_166"/>
          <p:cNvSpPr/>
          <p:nvPr/>
        </p:nvSpPr>
        <p:spPr>
          <a:xfrm>
            <a:off x="7029450" y="3401568"/>
            <a:ext cx="61722" cy="61722"/>
          </a:xfrm>
          <a:prstGeom prst="ellipse">
            <a:avLst/>
          </a:prstGeom>
          <a:solidFill>
            <a:srgbClr val="C9742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g3edb511d762_1_166"/>
          <p:cNvSpPr/>
          <p:nvPr/>
        </p:nvSpPr>
        <p:spPr>
          <a:xfrm>
            <a:off x="7166610" y="3369054"/>
            <a:ext cx="1556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4535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4535A"/>
                </a:solidFill>
                <a:latin typeface="Space Grotesk"/>
                <a:ea typeface="Space Grotesk"/>
                <a:cs typeface="Space Grotesk"/>
                <a:sym typeface="Space Grotesk"/>
              </a:rPr>
              <a:t>10. Responsabilidade</a:t>
            </a:r>
            <a:endParaRPr b="0" i="0" sz="8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62" name="Google Shape;262;g3edb511d762_1_166"/>
          <p:cNvSpPr/>
          <p:nvPr/>
        </p:nvSpPr>
        <p:spPr>
          <a:xfrm>
            <a:off x="7029450" y="3717036"/>
            <a:ext cx="61722" cy="61722"/>
          </a:xfrm>
          <a:prstGeom prst="ellipse">
            <a:avLst/>
          </a:prstGeom>
          <a:solidFill>
            <a:srgbClr val="C9742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g3edb511d762_1_166"/>
          <p:cNvSpPr/>
          <p:nvPr/>
        </p:nvSpPr>
        <p:spPr>
          <a:xfrm>
            <a:off x="7166610" y="3684522"/>
            <a:ext cx="1556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4535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4535A"/>
                </a:solidFill>
                <a:latin typeface="Space Grotesk"/>
                <a:ea typeface="Space Grotesk"/>
                <a:cs typeface="Space Grotesk"/>
                <a:sym typeface="Space Grotesk"/>
              </a:rPr>
              <a:t>11. Encarregado (DPO)</a:t>
            </a:r>
            <a:endParaRPr b="0" i="0" sz="8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264" name="Google Shape;264;g3edb511d762_1_16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470136" y="0"/>
            <a:ext cx="1673861" cy="49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edb511d762_1_216"/>
          <p:cNvSpPr/>
          <p:nvPr/>
        </p:nvSpPr>
        <p:spPr>
          <a:xfrm>
            <a:off x="411480" y="3429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E7C7B"/>
                </a:solidFill>
                <a:latin typeface="Space Grotesk"/>
                <a:ea typeface="Space Grotesk"/>
                <a:cs typeface="Space Grotesk"/>
                <a:sym typeface="Space Grotesk"/>
              </a:rPr>
              <a:t>DADOS E BASE LEGAL</a:t>
            </a:r>
            <a:endParaRPr b="0" i="0" sz="9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71" name="Google Shape;271;g3edb511d762_1_216"/>
          <p:cNvSpPr/>
          <p:nvPr/>
        </p:nvSpPr>
        <p:spPr>
          <a:xfrm>
            <a:off x="411480" y="582930"/>
            <a:ext cx="80238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E33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0B2E33"/>
                </a:solidFill>
                <a:latin typeface="Space Grotesk"/>
                <a:ea typeface="Space Grotesk"/>
                <a:cs typeface="Space Grotesk"/>
                <a:sym typeface="Space Grotesk"/>
              </a:rPr>
              <a:t>O que é </a:t>
            </a:r>
            <a:r>
              <a:rPr b="1" lang="en-US" sz="1800">
                <a:solidFill>
                  <a:srgbClr val="0B2E33"/>
                </a:solidFill>
                <a:latin typeface="Space Grotesk"/>
                <a:ea typeface="Space Grotesk"/>
                <a:cs typeface="Space Grotesk"/>
                <a:sym typeface="Space Grotesk"/>
              </a:rPr>
              <a:t>C</a:t>
            </a:r>
            <a:r>
              <a:rPr b="1" i="0" lang="en-US" sz="1800" u="none" cap="none" strike="noStrike">
                <a:solidFill>
                  <a:srgbClr val="0B2E33"/>
                </a:solidFill>
                <a:latin typeface="Space Grotesk"/>
                <a:ea typeface="Space Grotesk"/>
                <a:cs typeface="Space Grotesk"/>
                <a:sym typeface="Space Grotesk"/>
              </a:rPr>
              <a:t>oletado, </a:t>
            </a:r>
            <a:r>
              <a:rPr b="1" lang="en-US" sz="1800">
                <a:solidFill>
                  <a:srgbClr val="0B2E33"/>
                </a:solidFill>
                <a:latin typeface="Space Grotesk"/>
                <a:ea typeface="Space Grotesk"/>
                <a:cs typeface="Space Grotesk"/>
                <a:sym typeface="Space Grotesk"/>
              </a:rPr>
              <a:t>p</a:t>
            </a:r>
            <a:r>
              <a:rPr b="1" i="0" lang="en-US" sz="1800" u="none" cap="none" strike="noStrike">
                <a:solidFill>
                  <a:srgbClr val="0B2E33"/>
                </a:solidFill>
                <a:latin typeface="Space Grotesk"/>
                <a:ea typeface="Space Grotesk"/>
                <a:cs typeface="Space Grotesk"/>
                <a:sym typeface="Space Grotesk"/>
              </a:rPr>
              <a:t>or quê</a:t>
            </a:r>
            <a:r>
              <a:rPr b="1" i="0" lang="en-US" sz="1800" u="none" cap="none" strike="noStrike">
                <a:solidFill>
                  <a:srgbClr val="0B2E33"/>
                </a:solidFill>
                <a:latin typeface="Space Grotesk"/>
                <a:ea typeface="Space Grotesk"/>
                <a:cs typeface="Space Grotesk"/>
                <a:sym typeface="Space Grotesk"/>
              </a:rPr>
              <a:t>, e sob qual base legal</a:t>
            </a:r>
            <a:endParaRPr b="0" i="0" sz="18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72" name="Google Shape;272;g3edb511d762_1_216"/>
          <p:cNvSpPr/>
          <p:nvPr/>
        </p:nvSpPr>
        <p:spPr>
          <a:xfrm>
            <a:off x="411480" y="120015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E33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0B2E33"/>
                </a:solidFill>
                <a:latin typeface="Space Grotesk"/>
                <a:ea typeface="Space Grotesk"/>
                <a:cs typeface="Space Grotesk"/>
                <a:sym typeface="Space Grotesk"/>
              </a:rPr>
              <a:t>Dados </a:t>
            </a:r>
            <a:r>
              <a:rPr b="1" lang="en-US" sz="1100">
                <a:solidFill>
                  <a:srgbClr val="0B2E33"/>
                </a:solidFill>
                <a:latin typeface="Space Grotesk"/>
                <a:ea typeface="Space Grotesk"/>
                <a:cs typeface="Space Grotesk"/>
                <a:sym typeface="Space Grotesk"/>
              </a:rPr>
              <a:t>P</a:t>
            </a:r>
            <a:r>
              <a:rPr b="1" i="0" lang="en-US" sz="1100" u="none" cap="none" strike="noStrike">
                <a:solidFill>
                  <a:srgbClr val="0B2E33"/>
                </a:solidFill>
                <a:latin typeface="Space Grotesk"/>
                <a:ea typeface="Space Grotesk"/>
                <a:cs typeface="Space Grotesk"/>
                <a:sym typeface="Space Grotesk"/>
              </a:rPr>
              <a:t>essoais </a:t>
            </a:r>
            <a:r>
              <a:rPr b="1" lang="en-US" sz="1100">
                <a:solidFill>
                  <a:srgbClr val="0B2E33"/>
                </a:solidFill>
                <a:latin typeface="Space Grotesk"/>
                <a:ea typeface="Space Grotesk"/>
                <a:cs typeface="Space Grotesk"/>
                <a:sym typeface="Space Grotesk"/>
              </a:rPr>
              <a:t>C</a:t>
            </a:r>
            <a:r>
              <a:rPr b="1" i="0" lang="en-US" sz="1100" u="none" cap="none" strike="noStrike">
                <a:solidFill>
                  <a:srgbClr val="0B2E33"/>
                </a:solidFill>
                <a:latin typeface="Space Grotesk"/>
                <a:ea typeface="Space Grotesk"/>
                <a:cs typeface="Space Grotesk"/>
                <a:sym typeface="Space Grotesk"/>
              </a:rPr>
              <a:t>oletados:</a:t>
            </a:r>
            <a:endParaRPr b="0" i="0" sz="11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73" name="Google Shape;273;g3edb511d762_1_216"/>
          <p:cNvSpPr/>
          <p:nvPr/>
        </p:nvSpPr>
        <p:spPr>
          <a:xfrm>
            <a:off x="411480" y="1543050"/>
            <a:ext cx="4766310" cy="685800"/>
          </a:xfrm>
          <a:prstGeom prst="roundRect">
            <a:avLst>
              <a:gd fmla="val 6000" name="adj"/>
            </a:avLst>
          </a:prstGeom>
          <a:solidFill>
            <a:srgbClr val="F7FAFA"/>
          </a:solidFill>
          <a:ln>
            <a:noFill/>
          </a:ln>
          <a:effectLst>
            <a:outerShdw blurRad="127000" rotWithShape="0" algn="bl" dir="5400000" dist="38100">
              <a:srgbClr val="0B2E33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g3edb511d762_1_216"/>
          <p:cNvSpPr/>
          <p:nvPr/>
        </p:nvSpPr>
        <p:spPr>
          <a:xfrm>
            <a:off x="548640" y="1680210"/>
            <a:ext cx="411480" cy="411480"/>
          </a:xfrm>
          <a:prstGeom prst="ellipse">
            <a:avLst/>
          </a:prstGeom>
          <a:solidFill>
            <a:srgbClr val="E6F2F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75" name="Google Shape;275;g3edb511d762_1_2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1510" y="1783080"/>
            <a:ext cx="205740" cy="20574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g3edb511d762_1_216"/>
          <p:cNvSpPr/>
          <p:nvPr/>
        </p:nvSpPr>
        <p:spPr>
          <a:xfrm>
            <a:off x="1097280" y="1632204"/>
            <a:ext cx="394335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E33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0B2E33"/>
                </a:solidFill>
                <a:latin typeface="Space Grotesk"/>
                <a:ea typeface="Space Grotesk"/>
                <a:cs typeface="Space Grotesk"/>
                <a:sym typeface="Space Grotesk"/>
              </a:rPr>
              <a:t>Descrições livres dos bens</a:t>
            </a:r>
            <a:endParaRPr b="0" i="0" sz="9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77" name="Google Shape;277;g3edb511d762_1_216"/>
          <p:cNvSpPr/>
          <p:nvPr/>
        </p:nvSpPr>
        <p:spPr>
          <a:xfrm>
            <a:off x="1097280" y="1885950"/>
            <a:ext cx="394335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4535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4535A"/>
                </a:solidFill>
                <a:latin typeface="Space Grotesk"/>
                <a:ea typeface="Space Grotesk"/>
                <a:cs typeface="Space Grotesk"/>
                <a:sym typeface="Space Grotesk"/>
              </a:rPr>
              <a:t>Para mapear e converter textos do SUAP ao formato do SIADS.</a:t>
            </a:r>
            <a:endParaRPr b="0" i="0" sz="8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78" name="Google Shape;278;g3edb511d762_1_216"/>
          <p:cNvSpPr/>
          <p:nvPr/>
        </p:nvSpPr>
        <p:spPr>
          <a:xfrm>
            <a:off x="411480" y="2352294"/>
            <a:ext cx="4766310" cy="685800"/>
          </a:xfrm>
          <a:prstGeom prst="roundRect">
            <a:avLst>
              <a:gd fmla="val 6000" name="adj"/>
            </a:avLst>
          </a:prstGeom>
          <a:solidFill>
            <a:srgbClr val="F7FAFA"/>
          </a:solidFill>
          <a:ln>
            <a:noFill/>
          </a:ln>
          <a:effectLst>
            <a:outerShdw blurRad="127000" rotWithShape="0" algn="bl" dir="5400000" dist="38100">
              <a:srgbClr val="0B2E33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g3edb511d762_1_216"/>
          <p:cNvSpPr/>
          <p:nvPr/>
        </p:nvSpPr>
        <p:spPr>
          <a:xfrm>
            <a:off x="548640" y="2489454"/>
            <a:ext cx="411480" cy="411480"/>
          </a:xfrm>
          <a:prstGeom prst="ellipse">
            <a:avLst/>
          </a:prstGeom>
          <a:solidFill>
            <a:srgbClr val="E6F2F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80" name="Google Shape;280;g3edb511d762_1_2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1510" y="2592324"/>
            <a:ext cx="205740" cy="20574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g3edb511d762_1_216"/>
          <p:cNvSpPr/>
          <p:nvPr/>
        </p:nvSpPr>
        <p:spPr>
          <a:xfrm>
            <a:off x="1097280" y="2441448"/>
            <a:ext cx="394335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E33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0B2E33"/>
                </a:solidFill>
                <a:latin typeface="Space Grotesk"/>
                <a:ea typeface="Space Grotesk"/>
                <a:cs typeface="Space Grotesk"/>
                <a:sym typeface="Space Grotesk"/>
              </a:rPr>
              <a:t>Números de tombamento</a:t>
            </a:r>
            <a:endParaRPr b="0" i="0" sz="9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82" name="Google Shape;282;g3edb511d762_1_216"/>
          <p:cNvSpPr/>
          <p:nvPr/>
        </p:nvSpPr>
        <p:spPr>
          <a:xfrm>
            <a:off x="1097280" y="2695194"/>
            <a:ext cx="394335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4535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4535A"/>
                </a:solidFill>
                <a:latin typeface="Space Grotesk"/>
                <a:ea typeface="Space Grotesk"/>
                <a:cs typeface="Space Grotesk"/>
                <a:sym typeface="Space Grotesk"/>
              </a:rPr>
              <a:t>Validação de unicidade, evitando duplicação na carga oficial.</a:t>
            </a:r>
            <a:endParaRPr b="0" i="0" sz="8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83" name="Google Shape;283;g3edb511d762_1_216"/>
          <p:cNvSpPr/>
          <p:nvPr/>
        </p:nvSpPr>
        <p:spPr>
          <a:xfrm>
            <a:off x="411480" y="3161538"/>
            <a:ext cx="4766310" cy="685800"/>
          </a:xfrm>
          <a:prstGeom prst="roundRect">
            <a:avLst>
              <a:gd fmla="val 6000" name="adj"/>
            </a:avLst>
          </a:prstGeom>
          <a:solidFill>
            <a:srgbClr val="F7FAFA"/>
          </a:solidFill>
          <a:ln>
            <a:noFill/>
          </a:ln>
          <a:effectLst>
            <a:outerShdw blurRad="127000" rotWithShape="0" algn="bl" dir="5400000" dist="38100">
              <a:srgbClr val="0B2E33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g3edb511d762_1_216"/>
          <p:cNvSpPr/>
          <p:nvPr/>
        </p:nvSpPr>
        <p:spPr>
          <a:xfrm>
            <a:off x="548640" y="3298698"/>
            <a:ext cx="411480" cy="411480"/>
          </a:xfrm>
          <a:prstGeom prst="ellipse">
            <a:avLst/>
          </a:prstGeom>
          <a:solidFill>
            <a:srgbClr val="E6F2F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85" name="Google Shape;285;g3edb511d762_1_2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1510" y="3401568"/>
            <a:ext cx="205740" cy="20574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g3edb511d762_1_216"/>
          <p:cNvSpPr/>
          <p:nvPr/>
        </p:nvSpPr>
        <p:spPr>
          <a:xfrm>
            <a:off x="1097280" y="3250692"/>
            <a:ext cx="394335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E33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0B2E33"/>
                </a:solidFill>
                <a:latin typeface="Space Grotesk"/>
                <a:ea typeface="Space Grotesk"/>
                <a:cs typeface="Space Grotesk"/>
                <a:sym typeface="Space Grotesk"/>
              </a:rPr>
              <a:t>Setor e departamento</a:t>
            </a:r>
            <a:endParaRPr b="0" i="0" sz="9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87" name="Google Shape;287;g3edb511d762_1_216"/>
          <p:cNvSpPr/>
          <p:nvPr/>
        </p:nvSpPr>
        <p:spPr>
          <a:xfrm>
            <a:off x="1097280" y="3504438"/>
            <a:ext cx="394335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4535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4535A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Consolidação de planilhas setoriais em um arquivo único.</a:t>
            </a:r>
            <a:endParaRPr b="0" i="0" sz="8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88" name="Google Shape;288;g3edb511d762_1_216"/>
          <p:cNvSpPr/>
          <p:nvPr/>
        </p:nvSpPr>
        <p:spPr>
          <a:xfrm>
            <a:off x="411480" y="3970782"/>
            <a:ext cx="4766310" cy="685800"/>
          </a:xfrm>
          <a:prstGeom prst="roundRect">
            <a:avLst>
              <a:gd fmla="val 6000" name="adj"/>
            </a:avLst>
          </a:prstGeom>
          <a:solidFill>
            <a:srgbClr val="F7FAFA"/>
          </a:solidFill>
          <a:ln>
            <a:noFill/>
          </a:ln>
          <a:effectLst>
            <a:outerShdw blurRad="127000" rotWithShape="0" algn="bl" dir="5400000" dist="38100">
              <a:srgbClr val="0B2E33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g3edb511d762_1_216"/>
          <p:cNvSpPr/>
          <p:nvPr/>
        </p:nvSpPr>
        <p:spPr>
          <a:xfrm>
            <a:off x="548640" y="4107942"/>
            <a:ext cx="411480" cy="411480"/>
          </a:xfrm>
          <a:prstGeom prst="ellipse">
            <a:avLst/>
          </a:prstGeom>
          <a:solidFill>
            <a:srgbClr val="E6F2F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90" name="Google Shape;290;g3edb511d762_1_2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1510" y="4210812"/>
            <a:ext cx="205740" cy="20574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g3edb511d762_1_216"/>
          <p:cNvSpPr/>
          <p:nvPr/>
        </p:nvSpPr>
        <p:spPr>
          <a:xfrm>
            <a:off x="1097280" y="4059936"/>
            <a:ext cx="394335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E33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0B2E33"/>
                </a:solidFill>
                <a:latin typeface="Space Grotesk"/>
                <a:ea typeface="Space Grotesk"/>
                <a:cs typeface="Space Grotesk"/>
                <a:sym typeface="Space Grotesk"/>
              </a:rPr>
              <a:t>Arquivos CSV/XLSX</a:t>
            </a:r>
            <a:endParaRPr b="0" i="0" sz="9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92" name="Google Shape;292;g3edb511d762_1_216"/>
          <p:cNvSpPr/>
          <p:nvPr/>
        </p:nvSpPr>
        <p:spPr>
          <a:xfrm>
            <a:off x="1097280" y="4313682"/>
            <a:ext cx="394335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4535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4535A"/>
                </a:solidFill>
                <a:latin typeface="Space Grotesk"/>
                <a:ea typeface="Space Grotesk"/>
                <a:cs typeface="Space Grotesk"/>
                <a:sym typeface="Space Grotesk"/>
              </a:rPr>
              <a:t>Validação das colunas obrigatórias para exportação final.</a:t>
            </a:r>
            <a:endParaRPr b="0" i="0" sz="8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93" name="Google Shape;293;g3edb511d762_1_216"/>
          <p:cNvSpPr/>
          <p:nvPr/>
        </p:nvSpPr>
        <p:spPr>
          <a:xfrm>
            <a:off x="5452110" y="1515026"/>
            <a:ext cx="3278100" cy="3326100"/>
          </a:xfrm>
          <a:prstGeom prst="roundRect">
            <a:avLst>
              <a:gd fmla="val 1674" name="adj"/>
            </a:avLst>
          </a:prstGeom>
          <a:solidFill>
            <a:srgbClr val="0B2E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94" name="Google Shape;294;g3edb511d762_1_2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692140" y="1734482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g3edb511d762_1_216"/>
          <p:cNvSpPr/>
          <p:nvPr/>
        </p:nvSpPr>
        <p:spPr>
          <a:xfrm>
            <a:off x="6137910" y="1734482"/>
            <a:ext cx="2386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Fundamentação legal</a:t>
            </a:r>
            <a:endParaRPr b="0" i="0" sz="12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96" name="Google Shape;296;g3edb511d762_1_216"/>
          <p:cNvSpPr/>
          <p:nvPr/>
        </p:nvSpPr>
        <p:spPr>
          <a:xfrm>
            <a:off x="5692140" y="2337986"/>
            <a:ext cx="68700" cy="68700"/>
          </a:xfrm>
          <a:prstGeom prst="ellipse">
            <a:avLst/>
          </a:prstGeom>
          <a:solidFill>
            <a:srgbClr val="2BAE6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g3edb511d762_1_216"/>
          <p:cNvSpPr/>
          <p:nvPr/>
        </p:nvSpPr>
        <p:spPr>
          <a:xfrm>
            <a:off x="5849874" y="2248832"/>
            <a:ext cx="26265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CEFEE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DCEFEE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Constituição Federal (art. 5º, LXXIX; art. 22º, XXX — EC 115/2022)</a:t>
            </a:r>
            <a:endParaRPr b="0" i="0" sz="8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98" name="Google Shape;298;g3edb511d762_1_216"/>
          <p:cNvSpPr/>
          <p:nvPr/>
        </p:nvSpPr>
        <p:spPr>
          <a:xfrm>
            <a:off x="5692140" y="2804330"/>
            <a:ext cx="68700" cy="68700"/>
          </a:xfrm>
          <a:prstGeom prst="ellipse">
            <a:avLst/>
          </a:prstGeom>
          <a:solidFill>
            <a:srgbClr val="2BAE6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g3edb511d762_1_216"/>
          <p:cNvSpPr/>
          <p:nvPr/>
        </p:nvSpPr>
        <p:spPr>
          <a:xfrm>
            <a:off x="5849874" y="2715176"/>
            <a:ext cx="26265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CEFEE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DCEFEE"/>
                </a:solidFill>
                <a:latin typeface="Space Grotesk"/>
                <a:ea typeface="Space Grotesk"/>
                <a:cs typeface="Space Grotesk"/>
                <a:sym typeface="Space Grotesk"/>
              </a:rPr>
              <a:t>LGPD — Lei Federal 13.709/2018</a:t>
            </a:r>
            <a:endParaRPr b="0" i="0" sz="8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00" name="Google Shape;300;g3edb511d762_1_216"/>
          <p:cNvSpPr/>
          <p:nvPr/>
        </p:nvSpPr>
        <p:spPr>
          <a:xfrm>
            <a:off x="5692140" y="3270674"/>
            <a:ext cx="68700" cy="68700"/>
          </a:xfrm>
          <a:prstGeom prst="ellipse">
            <a:avLst/>
          </a:prstGeom>
          <a:solidFill>
            <a:srgbClr val="2BAE6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g3edb511d762_1_216"/>
          <p:cNvSpPr/>
          <p:nvPr/>
        </p:nvSpPr>
        <p:spPr>
          <a:xfrm>
            <a:off x="5849874" y="3181520"/>
            <a:ext cx="26265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CEFEE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DCEFEE"/>
                </a:solidFill>
                <a:latin typeface="Space Grotesk"/>
                <a:ea typeface="Space Grotesk"/>
                <a:cs typeface="Space Grotesk"/>
                <a:sym typeface="Space Grotesk"/>
              </a:rPr>
              <a:t>Código de Defesa do Consumidor — Lei 8.078/1990</a:t>
            </a:r>
            <a:endParaRPr b="0" i="0" sz="8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02" name="Google Shape;302;g3edb511d762_1_216"/>
          <p:cNvSpPr/>
          <p:nvPr/>
        </p:nvSpPr>
        <p:spPr>
          <a:xfrm>
            <a:off x="5692140" y="3737018"/>
            <a:ext cx="68700" cy="68700"/>
          </a:xfrm>
          <a:prstGeom prst="ellipse">
            <a:avLst/>
          </a:prstGeom>
          <a:solidFill>
            <a:srgbClr val="2BAE6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g3edb511d762_1_216"/>
          <p:cNvSpPr/>
          <p:nvPr/>
        </p:nvSpPr>
        <p:spPr>
          <a:xfrm>
            <a:off x="5849874" y="3647864"/>
            <a:ext cx="26265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CEFEE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DCEFEE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Consentimento específico para cada finalidade (Art. 18 LGPD)</a:t>
            </a:r>
            <a:endParaRPr b="0" i="0" sz="8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04" name="Google Shape;304;g3edb511d762_1_216"/>
          <p:cNvSpPr/>
          <p:nvPr/>
        </p:nvSpPr>
        <p:spPr>
          <a:xfrm>
            <a:off x="5692140" y="4155356"/>
            <a:ext cx="2798100" cy="534900"/>
          </a:xfrm>
          <a:prstGeom prst="roundRect">
            <a:avLst>
              <a:gd fmla="val 7692" name="adj"/>
            </a:avLst>
          </a:prstGeom>
          <a:solidFill>
            <a:srgbClr val="13384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05" name="Google Shape;305;g3edb511d762_1_2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29300" y="4251368"/>
            <a:ext cx="288036" cy="288036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g3edb511d762_1_216"/>
          <p:cNvSpPr/>
          <p:nvPr/>
        </p:nvSpPr>
        <p:spPr>
          <a:xfrm>
            <a:off x="6192774" y="4223936"/>
            <a:ext cx="2249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Retenção Zero</a:t>
            </a:r>
            <a:endParaRPr b="0" i="0" sz="9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07" name="Google Shape;307;g3edb511d762_1_216"/>
          <p:cNvSpPr/>
          <p:nvPr/>
        </p:nvSpPr>
        <p:spPr>
          <a:xfrm>
            <a:off x="6192774" y="4391003"/>
            <a:ext cx="2318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D9C8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9FD9C8"/>
                </a:solidFill>
                <a:latin typeface="Space Grotesk"/>
                <a:ea typeface="Space Grotesk"/>
                <a:cs typeface="Space Grotesk"/>
                <a:sym typeface="Space Grotesk"/>
              </a:rPr>
              <a:t>Dados voláteis, excluídos após o processamento</a:t>
            </a:r>
            <a:endParaRPr b="0" i="0" sz="7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308" name="Google Shape;308;g3edb511d762_1_2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470136" y="0"/>
            <a:ext cx="1673861" cy="49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edb511d762_1_299"/>
          <p:cNvSpPr/>
          <p:nvPr/>
        </p:nvSpPr>
        <p:spPr>
          <a:xfrm>
            <a:off x="152400" y="4449450"/>
            <a:ext cx="35718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193"/>
              <a:buFont typeface="Space Grotesk"/>
              <a:buNone/>
            </a:pPr>
            <a:r>
              <a:rPr b="1" lang="en-US" sz="1193">
                <a:solidFill>
                  <a:srgbClr val="0E7C7B"/>
                </a:solidFill>
                <a:latin typeface="Space Grotesk"/>
                <a:ea typeface="Space Grotesk"/>
                <a:cs typeface="Space Grotesk"/>
                <a:sym typeface="Space Grotesk"/>
              </a:rPr>
              <a:t>KANBAN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g3edb511d762_1_299"/>
          <p:cNvSpPr/>
          <p:nvPr/>
        </p:nvSpPr>
        <p:spPr>
          <a:xfrm>
            <a:off x="152400" y="310286"/>
            <a:ext cx="6429300" cy="6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583"/>
              </a:lnSpc>
              <a:spcBef>
                <a:spcPts val="0"/>
              </a:spcBef>
              <a:spcAft>
                <a:spcPts val="0"/>
              </a:spcAft>
              <a:buClr>
                <a:srgbClr val="0B2E33"/>
              </a:buClr>
              <a:buSzPts val="2121"/>
              <a:buFont typeface="Space Grotesk"/>
              <a:buNone/>
            </a:pPr>
            <a:r>
              <a:rPr b="1" lang="en-US" sz="2121">
                <a:solidFill>
                  <a:srgbClr val="0B2E33"/>
                </a:solidFill>
                <a:latin typeface="Space Grotesk"/>
                <a:ea typeface="Space Grotesk"/>
                <a:cs typeface="Space Grotesk"/>
                <a:sym typeface="Space Grotesk"/>
              </a:rPr>
              <a:t>GESTÃO DE PROJETO</a:t>
            </a:r>
            <a:endParaRPr b="0" i="0" sz="21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6" name="Google Shape;316;g3edb511d762_1_2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70136" y="0"/>
            <a:ext cx="1673861" cy="49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g3edb511d762_1_2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970275"/>
            <a:ext cx="7567409" cy="33553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edb511d762_1_307"/>
          <p:cNvSpPr/>
          <p:nvPr/>
        </p:nvSpPr>
        <p:spPr>
          <a:xfrm>
            <a:off x="714375" y="600075"/>
            <a:ext cx="35718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193"/>
              <a:buFont typeface="Space Grotesk"/>
              <a:buNone/>
            </a:pPr>
            <a:r>
              <a:rPr b="1" i="0" lang="en-US" sz="1293" u="none" cap="none" strike="noStrike">
                <a:solidFill>
                  <a:srgbClr val="0E7C7B"/>
                </a:solidFill>
                <a:latin typeface="Space Grotesk"/>
                <a:ea typeface="Space Grotesk"/>
                <a:cs typeface="Space Grotesk"/>
                <a:sym typeface="Space Grotesk"/>
              </a:rPr>
              <a:t>GESTÃO DE COMUNICAÇÃO</a:t>
            </a:r>
            <a:endParaRPr b="0" i="0" sz="12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4" name="Google Shape;324;g3edb511d762_1_3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4375" y="1092074"/>
            <a:ext cx="1814052" cy="1209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g3edb511d762_1_30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28425" y="1190463"/>
            <a:ext cx="1012275" cy="1012275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g3edb511d762_1_307"/>
          <p:cNvSpPr/>
          <p:nvPr/>
        </p:nvSpPr>
        <p:spPr>
          <a:xfrm>
            <a:off x="714375" y="2718525"/>
            <a:ext cx="35718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193"/>
              <a:buFont typeface="Space Grotesk"/>
              <a:buNone/>
            </a:pPr>
            <a:r>
              <a:rPr b="1" i="0" lang="en-US" sz="1293" u="none" cap="none" strike="noStrike">
                <a:solidFill>
                  <a:srgbClr val="0E7C7B"/>
                </a:solidFill>
                <a:latin typeface="Space Grotesk"/>
                <a:ea typeface="Space Grotesk"/>
                <a:cs typeface="Space Grotesk"/>
                <a:sym typeface="Space Grotesk"/>
              </a:rPr>
              <a:t>MODELAGEM</a:t>
            </a:r>
            <a:endParaRPr b="0" i="0" sz="12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7" name="Google Shape;327;g3edb511d762_1_30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7975" y="3169625"/>
            <a:ext cx="1012275" cy="101227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g3edb511d762_1_307"/>
          <p:cNvSpPr/>
          <p:nvPr/>
        </p:nvSpPr>
        <p:spPr>
          <a:xfrm>
            <a:off x="5324000" y="2718525"/>
            <a:ext cx="35718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193"/>
              <a:buFont typeface="Space Grotesk"/>
              <a:buNone/>
            </a:pPr>
            <a:r>
              <a:rPr b="1" i="0" lang="en-US" sz="1293" u="none" cap="none" strike="noStrike">
                <a:solidFill>
                  <a:srgbClr val="0E7C7B"/>
                </a:solidFill>
                <a:latin typeface="Space Grotesk"/>
                <a:ea typeface="Space Grotesk"/>
                <a:cs typeface="Space Grotesk"/>
                <a:sym typeface="Space Grotesk"/>
              </a:rPr>
              <a:t>REPOSITÓRIO E GESTÃO DE PROJETOS</a:t>
            </a:r>
            <a:endParaRPr b="0" i="0" sz="12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9" name="Google Shape;329;g3edb511d762_1_30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51425" y="3169626"/>
            <a:ext cx="2149448" cy="120905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g3edb511d762_1_307"/>
          <p:cNvSpPr/>
          <p:nvPr/>
        </p:nvSpPr>
        <p:spPr>
          <a:xfrm>
            <a:off x="5324000" y="600075"/>
            <a:ext cx="35718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193"/>
              <a:buFont typeface="Space Grotesk"/>
              <a:buNone/>
            </a:pPr>
            <a:r>
              <a:rPr b="1" i="0" lang="en-US" sz="1293" u="none" cap="none" strike="noStrike">
                <a:solidFill>
                  <a:srgbClr val="0E7C7B"/>
                </a:solidFill>
                <a:latin typeface="Space Grotesk"/>
                <a:ea typeface="Space Grotesk"/>
                <a:cs typeface="Space Grotesk"/>
                <a:sym typeface="Space Grotesk"/>
              </a:rPr>
              <a:t>FERRAMENTAS DE BRAINSTORM</a:t>
            </a:r>
            <a:endParaRPr b="0" i="0" sz="12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1" name="Google Shape;331;g3edb511d762_1_30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446100" y="970473"/>
            <a:ext cx="1232296" cy="123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g3edb511d762_1_30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70550" y="970475"/>
            <a:ext cx="821518" cy="1232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g3edb511d762_1_30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470136" y="0"/>
            <a:ext cx="1673861" cy="49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edb511d762_1_322"/>
          <p:cNvSpPr/>
          <p:nvPr/>
        </p:nvSpPr>
        <p:spPr>
          <a:xfrm>
            <a:off x="714375" y="600075"/>
            <a:ext cx="35718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193"/>
              <a:buFont typeface="Space Grotesk"/>
              <a:buNone/>
            </a:pPr>
            <a:r>
              <a:rPr b="1" i="0" lang="en-US" sz="1193" u="none" cap="none" strike="noStrike">
                <a:solidFill>
                  <a:srgbClr val="0E7C7B"/>
                </a:solidFill>
                <a:latin typeface="Space Grotesk"/>
                <a:ea typeface="Space Grotesk"/>
                <a:cs typeface="Space Grotesk"/>
                <a:sym typeface="Space Grotesk"/>
              </a:rPr>
              <a:t>LINK E PRINT DO REPOSITÓRIO DE PROJETO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g3edb511d762_1_322"/>
          <p:cNvSpPr/>
          <p:nvPr/>
        </p:nvSpPr>
        <p:spPr>
          <a:xfrm>
            <a:off x="714375" y="4240525"/>
            <a:ext cx="771525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583"/>
              </a:lnSpc>
              <a:spcBef>
                <a:spcPts val="0"/>
              </a:spcBef>
              <a:spcAft>
                <a:spcPts val="0"/>
              </a:spcAft>
              <a:buClr>
                <a:srgbClr val="0B2E33"/>
              </a:buClr>
              <a:buSzPts val="2121"/>
              <a:buFont typeface="Space Grotesk"/>
              <a:buNone/>
            </a:pPr>
            <a:r>
              <a:rPr b="1" i="0" lang="en-US" sz="1400" u="sng" cap="none" strike="noStrike">
                <a:solidFill>
                  <a:schemeClr val="hlink"/>
                </a:solidFill>
                <a:latin typeface="Space Grotesk"/>
                <a:ea typeface="Space Grotesk"/>
                <a:cs typeface="Space Grotesk"/>
                <a:sym typeface="Space Grotesk"/>
                <a:hlinkClick r:id="rId3"/>
              </a:rPr>
              <a:t>https://github.com/AlcristiSto/er-gestao-patrimonio-ifpe</a:t>
            </a:r>
            <a:endParaRPr b="1" i="0" sz="20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341" name="Google Shape;341;g3edb511d762_1_3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70136" y="0"/>
            <a:ext cx="1673861" cy="49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g3edb511d762_1_3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48950" y="970275"/>
            <a:ext cx="5069999" cy="311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48" name="Google Shape;348;g3edb511d762_2_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08156" y="369689"/>
            <a:ext cx="750094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g3edb511d762_2_63"/>
          <p:cNvSpPr/>
          <p:nvPr/>
        </p:nvSpPr>
        <p:spPr>
          <a:xfrm>
            <a:off x="571500" y="364331"/>
            <a:ext cx="6429300" cy="1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942"/>
              <a:buFont typeface="Roboto Mono"/>
              <a:buNone/>
            </a:pPr>
            <a:r>
              <a:rPr b="0" i="0" lang="en-US" sz="942" u="none" cap="none" strike="noStrike">
                <a:solidFill>
                  <a:srgbClr val="0E7C7B"/>
                </a:solidFill>
                <a:latin typeface="Roboto Mono"/>
                <a:ea typeface="Roboto Mono"/>
                <a:cs typeface="Roboto Mono"/>
                <a:sym typeface="Roboto Mono"/>
              </a:rPr>
              <a:t>ENGENHARIA DE REQUISITOS // 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g3edb511d762_2_63"/>
          <p:cNvSpPr/>
          <p:nvPr/>
        </p:nvSpPr>
        <p:spPr>
          <a:xfrm>
            <a:off x="571500" y="840311"/>
            <a:ext cx="64293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469"/>
              </a:lnSpc>
              <a:spcBef>
                <a:spcPts val="0"/>
              </a:spcBef>
              <a:spcAft>
                <a:spcPts val="0"/>
              </a:spcAft>
              <a:buClr>
                <a:srgbClr val="0B2E33"/>
              </a:buClr>
              <a:buSzPts val="3293"/>
              <a:buFont typeface="Space Grotesk"/>
              <a:buNone/>
            </a:pPr>
            <a:r>
              <a:rPr b="1" i="0" lang="en-US" sz="3293" u="none" cap="none" strike="noStrike">
                <a:solidFill>
                  <a:srgbClr val="0B2E33"/>
                </a:solidFill>
                <a:latin typeface="Space Grotesk"/>
                <a:ea typeface="Space Grotesk"/>
                <a:cs typeface="Space Grotesk"/>
                <a:sym typeface="Space Grotesk"/>
              </a:rPr>
              <a:t>Sistema de Migração de Patrimônio do IFPE</a:t>
            </a:r>
            <a:endParaRPr b="0" i="0" sz="32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g3edb511d762_2_63"/>
          <p:cNvSpPr/>
          <p:nvPr/>
        </p:nvSpPr>
        <p:spPr>
          <a:xfrm>
            <a:off x="571463" y="2152304"/>
            <a:ext cx="64293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713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704"/>
              <a:buFont typeface="Roboto Mono"/>
              <a:buNone/>
            </a:pPr>
            <a:r>
              <a:rPr b="0" i="0" lang="en-US" sz="1704" u="none" cap="none" strike="noStrike">
                <a:solidFill>
                  <a:srgbClr val="334155"/>
                </a:solidFill>
                <a:latin typeface="Roboto Mono"/>
                <a:ea typeface="Roboto Mono"/>
                <a:cs typeface="Roboto Mono"/>
                <a:sym typeface="Roboto Mono"/>
              </a:rPr>
              <a:t>Migração SUAP ➔ SIADS </a:t>
            </a:r>
            <a:endParaRPr b="0" i="0" sz="17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g3edb511d762_2_63"/>
          <p:cNvSpPr/>
          <p:nvPr/>
        </p:nvSpPr>
        <p:spPr>
          <a:xfrm>
            <a:off x="1357350" y="3553111"/>
            <a:ext cx="64293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1469"/>
              </a:lnSpc>
              <a:spcBef>
                <a:spcPts val="0"/>
              </a:spcBef>
              <a:spcAft>
                <a:spcPts val="0"/>
              </a:spcAft>
              <a:buClr>
                <a:srgbClr val="0B2E33"/>
              </a:buClr>
              <a:buSzPts val="3293"/>
              <a:buFont typeface="Space Grotesk"/>
              <a:buNone/>
            </a:pPr>
            <a:r>
              <a:rPr b="1" lang="en-US" sz="3293">
                <a:solidFill>
                  <a:srgbClr val="0B2E33"/>
                </a:solidFill>
                <a:latin typeface="Space Grotesk"/>
                <a:ea typeface="Space Grotesk"/>
                <a:cs typeface="Space Grotesk"/>
                <a:sym typeface="Space Grotesk"/>
              </a:rPr>
              <a:t>Dúvidas?</a:t>
            </a:r>
            <a:endParaRPr b="0" i="0" sz="32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E7C7B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2026-03-19T23:46:04Z</dcterms:created>
  <dc:creator>PptxGenJS</dc:creator>
</cp:coreProperties>
</file>